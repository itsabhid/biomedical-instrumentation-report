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E9CAC1F-34A4-4DF7-AB7A-E1E5FC962514}">
  <a:tblStyle styleId="{1E9CAC1F-34A4-4DF7-AB7A-E1E5FC96251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slide" Target="slides/slide2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ower-calculation.com/battery-storage-calculator.php" TargetMode="External"/><Relationship Id="rId3" Type="http://schemas.openxmlformats.org/officeDocument/2006/relationships/hyperlink" Target="https://www.addicore.com/cdn/shop/products/AD310-2.jpg?v=1689765930&amp;width=1214"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0067e75d95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0067e75d95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0067e75d95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0067e75d95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0067e75d95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0067e75d95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0067e75d95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0067e75d95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Example 1:</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Now, consider a spirometer. Spirometer can help in detection and they also monitor disease progression but in order to use a spirometer, a person needs to be trained on the device or should have adequate technical expertise in the field. Incorrect technique will lead to inaccurate readings which will lead to wrong diagnosis. Spirometers cost between 400$ to 54,000$ depending on the functionality and the size. The ones used for Asthma detection are quite costly and not at all portable!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Example 2:</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Pulse oximeters are used to determine the oxygen content in your body. They are non-invasive,  affordable, convenient and very easy to use. But this device alone cannot determine the severity of asthma. In mild or moderate asthma, the oxygen levels in the patient’s body remain or appear normal due to which asthma might not be detected by pulse oximeter. They have to be paired with spirometry or peak flow meters in order to determine if the patient has asthma or not.  Pulse oximeters used now a days are also not entirely accurate nor are they robust!</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lang="en">
                <a:solidFill>
                  <a:schemeClr val="dk1"/>
                </a:solidFill>
              </a:rPr>
              <a:t>Spirometers</a:t>
            </a:r>
            <a:r>
              <a:rPr lang="en">
                <a:solidFill>
                  <a:schemeClr val="dk1"/>
                </a:solidFill>
              </a:rPr>
              <a:t>: These measure lung function by assessing how much air you can inhale and exhale, and how quickly you can do it. They are crucial for diagnosing asthma and monitoring its progression. (https://www.cmihealth.com/collections/spirometer?srsltid=AfmBOooSlkMxxCK1ldUAFh3xJoZDZ6hkn2-oO_QPOQSaE5wUlFOVB4E1)</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Peak Flow Meters</a:t>
            </a:r>
            <a:r>
              <a:rPr lang="en">
                <a:solidFill>
                  <a:schemeClr val="dk1"/>
                </a:solidFill>
              </a:rPr>
              <a:t>: These are portable devices that measure the peak expiratory flow rate (PEFR), which indicates how well air is moving out of the lungs. Regular monitoring can help manage asthma and identify early signs of worsening symptoms. (https://www.lung.org/lung-health-diseases/lung-disease-lookup/asthma/treatment/devices/peak-flow#:~:text=What%20is%20a%20Peak%20Flow,pushed%20out%20of%20your%20lungs.)</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FeNO Monitors</a:t>
            </a:r>
            <a:r>
              <a:rPr lang="en">
                <a:solidFill>
                  <a:schemeClr val="dk1"/>
                </a:solidFill>
              </a:rPr>
              <a:t>: Fractional exhaled nitric oxide (FeNO) monitors measure the level of nitric oxide in exhaled breath. Elevated levels can indicate airway inflammation, which is common in asthma. (https://www.medicalexpo.com/medical-manufacturer/feno-breathing-monitor-59187.html)</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Smart Inhalers</a:t>
            </a:r>
            <a:r>
              <a:rPr lang="en">
                <a:solidFill>
                  <a:schemeClr val="dk1"/>
                </a:solidFill>
              </a:rPr>
              <a:t>: These are inhalers equipped with sensors that track medication usage and provide data to both patients and healthcare providers. They often include features like reminders and tracking apps. (https://sensirion.com/products/applications/medical/smart-inhaler)</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Wearable Devices</a:t>
            </a:r>
            <a:r>
              <a:rPr lang="en">
                <a:solidFill>
                  <a:schemeClr val="dk1"/>
                </a:solidFill>
              </a:rPr>
              <a:t>: Some advanced wearables can monitor physiological signals like heart rate, respiratory rate, and even detect patterns that may indicate an asthma exacerbation.</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Pulse Oximeters</a:t>
            </a:r>
            <a:r>
              <a:rPr lang="en">
                <a:solidFill>
                  <a:schemeClr val="dk1"/>
                </a:solidFill>
              </a:rPr>
              <a:t>: These devices measure blood oxygen levels and can help monitor the severity of an asthma attack, though they are not specific for asthma.</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0073201597_3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0073201597_3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Example 1:</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Now, consider a spirometer. Spirometer can help in detection and they also monitor disease progression but in order to use a spirometer, a person needs to be trained on the device or should have adequate technical expertise in the field. Incorrect technique will lead to inaccurate readings which will lead to wrong diagnosis. Spirometers cost between 400$ to 54,000$ depending on the functionality and the size. The ones used for Asthma detection are quite costly and not at all portable!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Example 2:</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Pulse oximeters are used to determine the oxygen content in your body. They are non-invasive,  affordable, convenient and very easy to use. But this device alone cannot determine the severity of asthma. In mild or moderate asthma, the oxygen levels in the patient’s body remain or appear normal due to which asthma might not be detected by pulse oximeter. They have to be paired with spirometry or peak flow meters in order to determine if the patient has asthma or not.  Pulse oximeters used now a days are also not entirely accurate nor are they robust!</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lang="en">
                <a:solidFill>
                  <a:schemeClr val="dk1"/>
                </a:solidFill>
              </a:rPr>
              <a:t>Spirometers</a:t>
            </a:r>
            <a:r>
              <a:rPr lang="en">
                <a:solidFill>
                  <a:schemeClr val="dk1"/>
                </a:solidFill>
              </a:rPr>
              <a:t>: These measure lung function by assessing how much air you can inhale and exhale, and how quickly you can do it. They are crucial for diagnosing asthma and monitoring its progression. (https://www.cmihealth.com/collections/spirometer?srsltid=AfmBOooSlkMxxCK1ldUAFh3xJoZDZ6hkn2-oO_QPOQSaE5wUlFOVB4E1)</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Peak Flow Meters</a:t>
            </a:r>
            <a:r>
              <a:rPr lang="en">
                <a:solidFill>
                  <a:schemeClr val="dk1"/>
                </a:solidFill>
              </a:rPr>
              <a:t>: These are portable devices that measure the peak expiratory flow rate (PEFR), which indicates how well air is moving out of the lungs. Regular monitoring can help manage asthma and identify early signs of worsening symptoms. (https://www.lung.org/lung-health-diseases/lung-disease-lookup/asthma/treatment/devices/peak-flow#:~:text=What%20is%20a%20Peak%20Flow,pushed%20out%20of%20your%20lungs.)</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FeNO Monitors</a:t>
            </a:r>
            <a:r>
              <a:rPr lang="en">
                <a:solidFill>
                  <a:schemeClr val="dk1"/>
                </a:solidFill>
              </a:rPr>
              <a:t>: Fractional exhaled nitric oxide (FeNO) monitors measure the level of nitric oxide in exhaled breath. Elevated levels can indicate airway inflammation, which is common in asthma. (https://www.medicalexpo.com/medical-manufacturer/feno-breathing-monitor-59187.html)</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Smart Inhalers</a:t>
            </a:r>
            <a:r>
              <a:rPr lang="en">
                <a:solidFill>
                  <a:schemeClr val="dk1"/>
                </a:solidFill>
              </a:rPr>
              <a:t>: These are inhalers equipped with sensors that track medication usage and provide data to both patients and healthcare providers. They often include features like reminders and tracking apps. (https://sensirion.com/products/applications/medical/smart-inhaler)</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Wearable Devices</a:t>
            </a:r>
            <a:r>
              <a:rPr lang="en">
                <a:solidFill>
                  <a:schemeClr val="dk1"/>
                </a:solidFill>
              </a:rPr>
              <a:t>: Some advanced wearables can monitor physiological signals like heart rate, respiratory rate, and even detect patterns that may indicate an asthma exacerbation.</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Pulse Oximeters</a:t>
            </a:r>
            <a:r>
              <a:rPr lang="en">
                <a:solidFill>
                  <a:schemeClr val="dk1"/>
                </a:solidFill>
              </a:rPr>
              <a:t>: These devices measure blood oxygen levels and can help monitor the severity of an asthma attack, though they are not specific for asthma.</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022fca35bf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022fca35bf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Example 1:</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Now, consider a spirometer. Spirometer can help in detection and they also monitor disease progression but in order to use a spirometer, a person needs to be trained on the device or should have adequate technical expertise in the field. Incorrect technique will lead to inaccurate readings which will lead to wrong diagnosis. Spirometers cost between 400$ to 54,000$ depending on the functionality and the size. The ones used for Asthma detection are quite costly and not at all portable!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Example 2:</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Pulse oximeters are used to determine the oxygen content in your body. They are non-invasive,  affordable, convenient and very easy to use. But this device alone cannot determine the severity of asthma. In mild or moderate asthma, the oxygen levels in the patient’s body remain or appear normal due to which asthma might not be detected by pulse oximeter. They have to be paired with spirometry or peak flow meters in order to determine if the patient has asthma or not.  Pulse oximeters used now a days are also not entirely accurate nor are they robust!</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lang="en">
                <a:solidFill>
                  <a:schemeClr val="dk1"/>
                </a:solidFill>
              </a:rPr>
              <a:t>Spirometers</a:t>
            </a:r>
            <a:r>
              <a:rPr lang="en">
                <a:solidFill>
                  <a:schemeClr val="dk1"/>
                </a:solidFill>
              </a:rPr>
              <a:t>: These measure lung function by assessing how much air you can inhale and exhale, and how quickly you can do it. They are crucial for diagnosing asthma and monitoring its progression. (https://www.cmihealth.com/collections/spirometer?srsltid=AfmBOooSlkMxxCK1ldUAFh3xJoZDZ6hkn2-oO_QPOQSaE5wUlFOVB4E1)</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Peak Flow Meters</a:t>
            </a:r>
            <a:r>
              <a:rPr lang="en">
                <a:solidFill>
                  <a:schemeClr val="dk1"/>
                </a:solidFill>
              </a:rPr>
              <a:t>: These are portable devices that measure the peak expiratory flow rate (PEFR), which indicates how well air is moving out of the lungs. Regular monitoring can help manage asthma and identify early signs of worsening symptoms. (https://www.lung.org/lung-health-diseases/lung-disease-lookup/asthma/treatment/devices/peak-flow#:~:text=What%20is%20a%20Peak%20Flow,pushed%20out%20of%20your%20lungs.)</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FeNO Monitors</a:t>
            </a:r>
            <a:r>
              <a:rPr lang="en">
                <a:solidFill>
                  <a:schemeClr val="dk1"/>
                </a:solidFill>
              </a:rPr>
              <a:t>: Fractional exhaled nitric oxide (FeNO) monitors measure the level of nitric oxide in exhaled breath. Elevated levels can indicate airway inflammation, which is common in asthma. (https://www.medicalexpo.com/medical-manufacturer/feno-breathing-monitor-59187.html)</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Smart Inhalers</a:t>
            </a:r>
            <a:r>
              <a:rPr lang="en">
                <a:solidFill>
                  <a:schemeClr val="dk1"/>
                </a:solidFill>
              </a:rPr>
              <a:t>: These are inhalers equipped with sensors that track medication usage and provide data to both patients and healthcare providers. They often include features like reminders and tracking apps. (https://sensirion.com/products/applications/medical/smart-inhaler)</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Wearable Devices</a:t>
            </a:r>
            <a:r>
              <a:rPr lang="en">
                <a:solidFill>
                  <a:schemeClr val="dk1"/>
                </a:solidFill>
              </a:rPr>
              <a:t>: Some advanced wearables can monitor physiological signals like heart rate, respiratory rate, and even detect patterns that may indicate an asthma exacerbation.</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Pulse Oximeters</a:t>
            </a:r>
            <a:r>
              <a:rPr lang="en">
                <a:solidFill>
                  <a:schemeClr val="dk1"/>
                </a:solidFill>
              </a:rPr>
              <a:t>: These devices measure blood oxygen levels and can help monitor the severity of an asthma attack, though they are not specific for asthma.</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022fca35bf_2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022fca35bf_2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Example 1:</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Now, consider a spirometer. Spirometer can help in detection and they also monitor disease progression but in order to use a spirometer, a person needs to be trained on the device or should have adequate technical expertise in the field. Incorrect technique will lead to inaccurate readings which will lead to wrong diagnosis. Spirometers cost between 400$ to 54,000$ depending on the functionality and the size. The ones used for Asthma detection are quite costly and not at all portable!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Example 2:</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Pulse oximeters are used to determine the oxygen content in your body. They are non-invasive,  affordable, convenient and very easy to use. But this device alone cannot determine the severity of asthma. In mild or moderate asthma, the oxygen levels in the patient’s body remain or appear normal due to which asthma might not be detected by pulse oximeter. They have to be paired with spirometry or peak flow meters in order to determine if the patient has asthma or not.  Pulse oximeters used now a days are also not entirely accurate nor are they robust!</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lang="en">
                <a:solidFill>
                  <a:schemeClr val="dk1"/>
                </a:solidFill>
              </a:rPr>
              <a:t>Spirometers</a:t>
            </a:r>
            <a:r>
              <a:rPr lang="en">
                <a:solidFill>
                  <a:schemeClr val="dk1"/>
                </a:solidFill>
              </a:rPr>
              <a:t>: These measure lung function by assessing how much air you can inhale and exhale, and how quickly you can do it. They are crucial for diagnosing asthma and monitoring its progression. (https://www.cmihealth.com/collections/spirometer?srsltid=AfmBOooSlkMxxCK1ldUAFh3xJoZDZ6hkn2-oO_QPOQSaE5wUlFOVB4E1)</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Peak Flow Meters</a:t>
            </a:r>
            <a:r>
              <a:rPr lang="en">
                <a:solidFill>
                  <a:schemeClr val="dk1"/>
                </a:solidFill>
              </a:rPr>
              <a:t>: These are portable devices that measure the peak expiratory flow rate (PEFR), which indicates how well air is moving out of the lungs. Regular monitoring can help manage asthma and identify early signs of worsening symptoms. (https://www.lung.org/lung-health-diseases/lung-disease-lookup/asthma/treatment/devices/peak-flow#:~:text=What%20is%20a%20Peak%20Flow,pushed%20out%20of%20your%20lungs.)</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FeNO Monitors</a:t>
            </a:r>
            <a:r>
              <a:rPr lang="en">
                <a:solidFill>
                  <a:schemeClr val="dk1"/>
                </a:solidFill>
              </a:rPr>
              <a:t>: Fractional exhaled nitric oxide (FeNO) monitors measure the level of nitric oxide in exhaled breath. Elevated levels can indicate airway inflammation, which is common in asthma. (https://www.medicalexpo.com/medical-manufacturer/feno-breathing-monitor-59187.html)</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Smart Inhalers</a:t>
            </a:r>
            <a:r>
              <a:rPr lang="en">
                <a:solidFill>
                  <a:schemeClr val="dk1"/>
                </a:solidFill>
              </a:rPr>
              <a:t>: These are inhalers equipped with sensors that track medication usage and provide data to both patients and healthcare providers. They often include features like reminders and tracking apps. (https://sensirion.com/products/applications/medical/smart-inhaler)</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Wearable Devices</a:t>
            </a:r>
            <a:r>
              <a:rPr lang="en">
                <a:solidFill>
                  <a:schemeClr val="dk1"/>
                </a:solidFill>
              </a:rPr>
              <a:t>: Some advanced wearables can monitor physiological signals like heart rate, respiratory rate, and even detect patterns that may indicate an asthma exacerbation.</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Pulse Oximeters</a:t>
            </a:r>
            <a:r>
              <a:rPr lang="en">
                <a:solidFill>
                  <a:schemeClr val="dk1"/>
                </a:solidFill>
              </a:rPr>
              <a:t>: These devices measure blood oxygen levels and can help monitor the severity of an asthma attack, though they are not specific for asthma.</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0067e75d95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0067e75d95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150">
              <a:solidFill>
                <a:srgbClr val="222222"/>
              </a:solidFill>
              <a:highlight>
                <a:srgbClr val="FFFFFF"/>
              </a:highlight>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0067e75d95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0067e75d95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0067e75d95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0067e75d95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01db88e0b4_2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01db88e0b4_2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0067e75d95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0067e75d95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0067e75d95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0067e75d95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0067e75d95_0_5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0067e75d95_0_5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0067e75d95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0067e75d95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0067e75d95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0067e75d95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07b1cdd932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07b1cdd932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Advantages of BNO055</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Low Power consumption</a:t>
            </a:r>
            <a:endParaRPr/>
          </a:p>
          <a:p>
            <a:pPr indent="0" lvl="0" marL="0" rtl="0" algn="l">
              <a:spcBef>
                <a:spcPts val="0"/>
              </a:spcBef>
              <a:spcAft>
                <a:spcPts val="0"/>
              </a:spcAft>
              <a:buClr>
                <a:schemeClr val="dk1"/>
              </a:buClr>
              <a:buSzPts val="1100"/>
              <a:buFont typeface="Arial"/>
              <a:buNone/>
            </a:pPr>
            <a:r>
              <a:rPr lang="en"/>
              <a:t>On board Sensor fusion and calibration</a:t>
            </a:r>
            <a:endParaRPr/>
          </a:p>
          <a:p>
            <a:pPr indent="0" lvl="0" marL="0" rtl="0" algn="l">
              <a:spcBef>
                <a:spcPts val="0"/>
              </a:spcBef>
              <a:spcAft>
                <a:spcPts val="0"/>
              </a:spcAft>
              <a:buClr>
                <a:schemeClr val="dk1"/>
              </a:buClr>
              <a:buSzPts val="1100"/>
              <a:buFont typeface="Arial"/>
              <a:buNone/>
            </a:pPr>
            <a:r>
              <a:rPr lang="en"/>
              <a:t>High accuracy</a:t>
            </a:r>
            <a:endParaRPr/>
          </a:p>
          <a:p>
            <a:pPr indent="0" lvl="0" marL="0" rtl="0" algn="l">
              <a:spcBef>
                <a:spcPts val="0"/>
              </a:spcBef>
              <a:spcAft>
                <a:spcPts val="0"/>
              </a:spcAft>
              <a:buClr>
                <a:schemeClr val="dk1"/>
              </a:buClr>
              <a:buSzPts val="1100"/>
              <a:buFont typeface="Arial"/>
              <a:buNone/>
            </a:pPr>
            <a:r>
              <a:rPr lang="en"/>
              <a:t>Good serial interface</a:t>
            </a:r>
            <a:endParaRPr/>
          </a:p>
          <a:p>
            <a:pPr indent="0" lvl="0" marL="0" rtl="0" algn="l">
              <a:spcBef>
                <a:spcPts val="0"/>
              </a:spcBef>
              <a:spcAft>
                <a:spcPts val="0"/>
              </a:spcAft>
              <a:buClr>
                <a:schemeClr val="dk1"/>
              </a:buClr>
              <a:buSzPts val="1100"/>
              <a:buFont typeface="Arial"/>
              <a:buNone/>
            </a:pPr>
            <a:r>
              <a:rPr lang="en"/>
              <a:t>Optimal cost</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07b1cdd93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07b1cdd93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Advantages of AD8232</a:t>
            </a:r>
            <a:endParaRPr/>
          </a:p>
          <a:p>
            <a:pPr indent="0" lvl="0" marL="0" rtl="0" algn="l">
              <a:spcBef>
                <a:spcPts val="0"/>
              </a:spcBef>
              <a:spcAft>
                <a:spcPts val="0"/>
              </a:spcAft>
              <a:buClr>
                <a:schemeClr val="dk1"/>
              </a:buClr>
              <a:buSzPts val="1100"/>
              <a:buFont typeface="Arial"/>
              <a:buNone/>
            </a:pPr>
            <a:r>
              <a:rPr lang="en"/>
              <a:t>Good Accuracy</a:t>
            </a:r>
            <a:endParaRPr/>
          </a:p>
          <a:p>
            <a:pPr indent="0" lvl="0" marL="0" rtl="0" algn="l">
              <a:spcBef>
                <a:spcPts val="0"/>
              </a:spcBef>
              <a:spcAft>
                <a:spcPts val="0"/>
              </a:spcAft>
              <a:buClr>
                <a:schemeClr val="dk1"/>
              </a:buClr>
              <a:buSzPts val="1100"/>
              <a:buFont typeface="Arial"/>
              <a:buNone/>
            </a:pPr>
            <a:r>
              <a:rPr lang="en"/>
              <a:t>Low power consumption</a:t>
            </a:r>
            <a:endParaRPr/>
          </a:p>
          <a:p>
            <a:pPr indent="0" lvl="0" marL="0" rtl="0" algn="l">
              <a:spcBef>
                <a:spcPts val="0"/>
              </a:spcBef>
              <a:spcAft>
                <a:spcPts val="0"/>
              </a:spcAft>
              <a:buClr>
                <a:schemeClr val="dk1"/>
              </a:buClr>
              <a:buSzPts val="1100"/>
              <a:buFont typeface="Arial"/>
              <a:buNone/>
            </a:pPr>
            <a:r>
              <a:rPr lang="en"/>
              <a:t>HRV support</a:t>
            </a:r>
            <a:endParaRPr/>
          </a:p>
          <a:p>
            <a:pPr indent="0" lvl="0" marL="0" rtl="0" algn="l">
              <a:spcBef>
                <a:spcPts val="0"/>
              </a:spcBef>
              <a:spcAft>
                <a:spcPts val="0"/>
              </a:spcAft>
              <a:buClr>
                <a:schemeClr val="dk1"/>
              </a:buClr>
              <a:buSzPts val="1100"/>
              <a:buFont typeface="Arial"/>
              <a:buNone/>
            </a:pPr>
            <a:r>
              <a:rPr lang="en"/>
              <a:t>Uses ECG over PPG</a:t>
            </a:r>
            <a:br>
              <a:rPr lang="en"/>
            </a:br>
            <a:r>
              <a:rPr lang="en"/>
              <a:t>Low cost device</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07b1cdd93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07b1cdd93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Advantages of ESP32-S3-DevkitC-1</a:t>
            </a:r>
            <a:endParaRPr/>
          </a:p>
          <a:p>
            <a:pPr indent="0" lvl="0" marL="0" rtl="0" algn="l">
              <a:spcBef>
                <a:spcPts val="0"/>
              </a:spcBef>
              <a:spcAft>
                <a:spcPts val="0"/>
              </a:spcAft>
              <a:buClr>
                <a:schemeClr val="dk1"/>
              </a:buClr>
              <a:buSzPts val="1100"/>
              <a:buFont typeface="Arial"/>
              <a:buNone/>
            </a:pPr>
            <a:r>
              <a:rPr lang="en"/>
              <a:t>Suitable for Edge-AI</a:t>
            </a:r>
            <a:endParaRPr/>
          </a:p>
          <a:p>
            <a:pPr indent="0" lvl="0" marL="0" rtl="0" algn="l">
              <a:spcBef>
                <a:spcPts val="0"/>
              </a:spcBef>
              <a:spcAft>
                <a:spcPts val="0"/>
              </a:spcAft>
              <a:buClr>
                <a:schemeClr val="dk1"/>
              </a:buClr>
              <a:buSzPts val="1100"/>
              <a:buFont typeface="Arial"/>
              <a:buNone/>
            </a:pPr>
            <a:r>
              <a:rPr lang="en"/>
              <a:t>Supports most of the AI frameworks (TF Lite)</a:t>
            </a:r>
            <a:endParaRPr/>
          </a:p>
          <a:p>
            <a:pPr indent="0" lvl="0" marL="0" rtl="0" algn="l">
              <a:spcBef>
                <a:spcPts val="0"/>
              </a:spcBef>
              <a:spcAft>
                <a:spcPts val="0"/>
              </a:spcAft>
              <a:buClr>
                <a:schemeClr val="dk1"/>
              </a:buClr>
              <a:buSzPts val="1100"/>
              <a:buFont typeface="Arial"/>
              <a:buNone/>
            </a:pPr>
            <a:r>
              <a:rPr lang="en"/>
              <a:t>Low power consumption</a:t>
            </a:r>
            <a:endParaRPr/>
          </a:p>
          <a:p>
            <a:pPr indent="0" lvl="0" marL="0" rtl="0" algn="l">
              <a:spcBef>
                <a:spcPts val="0"/>
              </a:spcBef>
              <a:spcAft>
                <a:spcPts val="0"/>
              </a:spcAft>
              <a:buClr>
                <a:schemeClr val="dk1"/>
              </a:buClr>
              <a:buSzPts val="1100"/>
              <a:buFont typeface="Arial"/>
              <a:buNone/>
            </a:pPr>
            <a:r>
              <a:rPr lang="en"/>
              <a:t>Enough Flash storage</a:t>
            </a:r>
            <a:endParaRPr/>
          </a:p>
          <a:p>
            <a:pPr indent="0" lvl="0" marL="0" rtl="0" algn="l">
              <a:spcBef>
                <a:spcPts val="0"/>
              </a:spcBef>
              <a:spcAft>
                <a:spcPts val="0"/>
              </a:spcAft>
              <a:buClr>
                <a:schemeClr val="dk1"/>
              </a:buClr>
              <a:buSzPts val="1100"/>
              <a:buFont typeface="Arial"/>
              <a:buNone/>
            </a:pPr>
            <a:r>
              <a:rPr lang="en"/>
              <a:t>Low cost</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077639d1b1_2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077639d1b1_2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2f951aab86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2f951aab86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Reference: </a:t>
            </a:r>
            <a:r>
              <a:rPr lang="en" u="sng">
                <a:solidFill>
                  <a:schemeClr val="hlink"/>
                </a:solidFill>
                <a:hlinkClick r:id="rId2"/>
              </a:rPr>
              <a:t>https://power-calculation.com/battery-storage-calculator.php</a:t>
            </a:r>
            <a:endParaRPr/>
          </a:p>
          <a:p>
            <a:pPr indent="0" lvl="0" marL="0" rtl="0" algn="l">
              <a:spcBef>
                <a:spcPts val="0"/>
              </a:spcBef>
              <a:spcAft>
                <a:spcPts val="0"/>
              </a:spcAft>
              <a:buNone/>
            </a:pPr>
            <a:r>
              <a:rPr lang="en" u="sng">
                <a:solidFill>
                  <a:schemeClr val="hlink"/>
                </a:solidFill>
                <a:hlinkClick r:id="rId3"/>
              </a:rPr>
              <a:t>https://www.addicore.com/cdn/shop/products/AD310-2.jpg?v=1689765930&amp;width=1214</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2f951aab86f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2f951aab86f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2f951aab86f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2f951aab86f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3.png"/><Relationship Id="rId9"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9.png"/><Relationship Id="rId7" Type="http://schemas.openxmlformats.org/officeDocument/2006/relationships/image" Target="../media/image8.png"/><Relationship Id="rId8"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6.png"/><Relationship Id="rId10" Type="http://schemas.openxmlformats.org/officeDocument/2006/relationships/image" Target="../media/image7.png"/><Relationship Id="rId9" Type="http://schemas.openxmlformats.org/officeDocument/2006/relationships/image" Target="../media/image28.png"/><Relationship Id="rId5" Type="http://schemas.openxmlformats.org/officeDocument/2006/relationships/image" Target="../media/image25.png"/><Relationship Id="rId6" Type="http://schemas.openxmlformats.org/officeDocument/2006/relationships/image" Target="../media/image20.png"/><Relationship Id="rId7" Type="http://schemas.openxmlformats.org/officeDocument/2006/relationships/image" Target="../media/image22.png"/><Relationship Id="rId8"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hyperlink" Target="https://aspioneer.com/asthma-and-copd-monitoring-an-ai-powered-wearable-might-keep-track-on-respiratory-health/" TargetMode="External"/><Relationship Id="rId10" Type="http://schemas.openxmlformats.org/officeDocument/2006/relationships/hyperlink" Target="https://chatgpt.com/" TargetMode="External"/><Relationship Id="rId9" Type="http://schemas.openxmlformats.org/officeDocument/2006/relationships/hyperlink" Target="https://doi.org/10.1016/j.eswa.2022.117811" TargetMode="External"/><Relationship Id="rId5" Type="http://schemas.openxmlformats.org/officeDocument/2006/relationships/hyperlink" Target="https://www.cmihealth.com/collections/spirometer?srsltid=AfmBOooSlkMxxCK1ldUAFh3xJoZDZ6hkn2-oO_QPOQSaE5wUlFOVB4E1" TargetMode="External"/><Relationship Id="rId6" Type="http://schemas.openxmlformats.org/officeDocument/2006/relationships/hyperlink" Target="https://www.lung.org/lung-health-diseases/lung-disease-lookup/asthma/treatment/devices/peak-flow" TargetMode="External"/><Relationship Id="rId7" Type="http://schemas.openxmlformats.org/officeDocument/2006/relationships/hyperlink" Target="https://www.medicalexpo.com/medical-manufacturer/feno-breathing-monitor-59187.html" TargetMode="External"/><Relationship Id="rId8" Type="http://schemas.openxmlformats.org/officeDocument/2006/relationships/hyperlink" Target="https://doi.org/10.1007/978-3-031-56396-6_18"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png"/><Relationship Id="rId4" Type="http://schemas.openxmlformats.org/officeDocument/2006/relationships/image" Target="../media/image21.png"/><Relationship Id="rId5"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7.png"/><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3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9.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0" y="0"/>
            <a:ext cx="9144000" cy="5143500"/>
          </a:xfrm>
          <a:prstGeom prst="rect">
            <a:avLst/>
          </a:prstGeom>
          <a:noFill/>
          <a:ln>
            <a:noFill/>
          </a:ln>
        </p:spPr>
      </p:pic>
      <p:sp>
        <p:nvSpPr>
          <p:cNvPr id="55" name="Google Shape;55;p13"/>
          <p:cNvSpPr txBox="1"/>
          <p:nvPr/>
        </p:nvSpPr>
        <p:spPr>
          <a:xfrm>
            <a:off x="0" y="777500"/>
            <a:ext cx="9144000" cy="39558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sz="3000">
                <a:solidFill>
                  <a:schemeClr val="dk1"/>
                </a:solidFill>
              </a:rPr>
              <a:t>Wearable Acoustic Monitor</a:t>
            </a:r>
            <a:endParaRPr b="1" sz="3000">
              <a:solidFill>
                <a:schemeClr val="dk1"/>
              </a:solidFill>
            </a:endParaRPr>
          </a:p>
          <a:p>
            <a:pPr indent="0" lvl="0" marL="0" rtl="0" algn="ctr">
              <a:spcBef>
                <a:spcPts val="0"/>
              </a:spcBef>
              <a:spcAft>
                <a:spcPts val="0"/>
              </a:spcAft>
              <a:buNone/>
            </a:pPr>
            <a:r>
              <a:rPr lang="en" sz="2000">
                <a:solidFill>
                  <a:schemeClr val="dk1"/>
                </a:solidFill>
              </a:rPr>
              <a:t>Team - VSM-5</a:t>
            </a:r>
            <a:endParaRPr sz="2000">
              <a:solidFill>
                <a:schemeClr val="dk1"/>
              </a:solidFill>
            </a:endParaRPr>
          </a:p>
          <a:p>
            <a:pPr indent="0" lvl="0" marL="0" rtl="0" algn="ctr">
              <a:spcBef>
                <a:spcPts val="0"/>
              </a:spcBef>
              <a:spcAft>
                <a:spcPts val="0"/>
              </a:spcAft>
              <a:buNone/>
            </a:pPr>
            <a:r>
              <a:t/>
            </a:r>
            <a:endParaRPr sz="2000">
              <a:solidFill>
                <a:schemeClr val="dk1"/>
              </a:solidFill>
            </a:endParaRPr>
          </a:p>
          <a:p>
            <a:pPr indent="0" lvl="0" marL="0" rtl="0" algn="ctr">
              <a:spcBef>
                <a:spcPts val="0"/>
              </a:spcBef>
              <a:spcAft>
                <a:spcPts val="0"/>
              </a:spcAft>
              <a:buNone/>
            </a:pPr>
            <a:r>
              <a:rPr lang="en" sz="2000">
                <a:solidFill>
                  <a:schemeClr val="dk1"/>
                </a:solidFill>
              </a:rPr>
              <a:t>Team members:</a:t>
            </a:r>
            <a:endParaRPr sz="2000">
              <a:solidFill>
                <a:schemeClr val="dk1"/>
              </a:solidFill>
            </a:endParaRPr>
          </a:p>
          <a:p>
            <a:pPr indent="0" lvl="0" marL="0" rtl="0" algn="ctr">
              <a:spcBef>
                <a:spcPts val="0"/>
              </a:spcBef>
              <a:spcAft>
                <a:spcPts val="0"/>
              </a:spcAft>
              <a:buNone/>
            </a:pPr>
            <a:r>
              <a:rPr lang="en" sz="2000">
                <a:solidFill>
                  <a:schemeClr val="dk1"/>
                </a:solidFill>
              </a:rPr>
              <a:t>Mayur Sanap, Smriti Puntamkar, Vedant Deshpande, Atharva</a:t>
            </a:r>
            <a:endParaRPr sz="2000">
              <a:solidFill>
                <a:schemeClr val="dk1"/>
              </a:solidFill>
            </a:endParaRPr>
          </a:p>
          <a:p>
            <a:pPr indent="0" lvl="0" marL="0" rtl="0" algn="ctr">
              <a:spcBef>
                <a:spcPts val="0"/>
              </a:spcBef>
              <a:spcAft>
                <a:spcPts val="0"/>
              </a:spcAft>
              <a:buNone/>
            </a:pPr>
            <a:r>
              <a:rPr lang="en" sz="2000">
                <a:solidFill>
                  <a:schemeClr val="dk1"/>
                </a:solidFill>
              </a:rPr>
              <a:t>Thorat, Abhishek Deshpande, Shivang Bhargava</a:t>
            </a:r>
            <a:endParaRPr sz="2000">
              <a:solidFill>
                <a:schemeClr val="dk1"/>
              </a:solidFill>
            </a:endParaRPr>
          </a:p>
          <a:p>
            <a:pPr indent="0" lvl="0" marL="0" rtl="0" algn="ctr">
              <a:spcBef>
                <a:spcPts val="0"/>
              </a:spcBef>
              <a:spcAft>
                <a:spcPts val="0"/>
              </a:spcAft>
              <a:buNone/>
            </a:pPr>
            <a:r>
              <a:t/>
            </a:r>
            <a:endParaRPr sz="2000">
              <a:solidFill>
                <a:schemeClr val="dk1"/>
              </a:solidFill>
            </a:endParaRPr>
          </a:p>
          <a:p>
            <a:pPr indent="0" lvl="0" marL="0" rtl="0" algn="ctr">
              <a:spcBef>
                <a:spcPts val="0"/>
              </a:spcBef>
              <a:spcAft>
                <a:spcPts val="0"/>
              </a:spcAft>
              <a:buNone/>
            </a:pPr>
            <a:r>
              <a:rPr lang="en" sz="2000">
                <a:solidFill>
                  <a:schemeClr val="dk1"/>
                </a:solidFill>
              </a:rPr>
              <a:t>Advisor:</a:t>
            </a:r>
            <a:endParaRPr sz="2000">
              <a:solidFill>
                <a:schemeClr val="dk1"/>
              </a:solidFill>
            </a:endParaRPr>
          </a:p>
          <a:p>
            <a:pPr indent="0" lvl="0" marL="0" rtl="0" algn="ctr">
              <a:spcBef>
                <a:spcPts val="0"/>
              </a:spcBef>
              <a:spcAft>
                <a:spcPts val="0"/>
              </a:spcAft>
              <a:buNone/>
            </a:pPr>
            <a:r>
              <a:rPr lang="en" sz="2000">
                <a:solidFill>
                  <a:schemeClr val="dk1"/>
                </a:solidFill>
              </a:rPr>
              <a:t>Dr. H Troy Nagle</a:t>
            </a:r>
            <a:endParaRPr sz="2000">
              <a:solidFill>
                <a:schemeClr val="dk1"/>
              </a:solidFill>
            </a:endParaRPr>
          </a:p>
          <a:p>
            <a:pPr indent="0" lvl="0" marL="0" rtl="0" algn="ctr">
              <a:spcBef>
                <a:spcPts val="0"/>
              </a:spcBef>
              <a:spcAft>
                <a:spcPts val="0"/>
              </a:spcAft>
              <a:buNone/>
            </a:pPr>
            <a:r>
              <a:t/>
            </a:r>
            <a:endParaRPr sz="2000">
              <a:solidFill>
                <a:schemeClr val="dk1"/>
              </a:solidFill>
            </a:endParaRPr>
          </a:p>
          <a:p>
            <a:pPr indent="0" lvl="0" marL="0" rtl="0" algn="ctr">
              <a:spcBef>
                <a:spcPts val="0"/>
              </a:spcBef>
              <a:spcAft>
                <a:spcPts val="0"/>
              </a:spcAft>
              <a:buNone/>
            </a:pPr>
            <a:r>
              <a:rPr lang="en" sz="1500">
                <a:solidFill>
                  <a:srgbClr val="1D2125"/>
                </a:solidFill>
                <a:highlight>
                  <a:srgbClr val="FFFFFF"/>
                </a:highlight>
              </a:rPr>
              <a:t>(Tutorial Presentation)</a:t>
            </a:r>
            <a:endParaRPr sz="1500">
              <a:solidFill>
                <a:schemeClr val="dk1"/>
              </a:solidFill>
            </a:endParaRPr>
          </a:p>
          <a:p>
            <a:pPr indent="0" lvl="0" marL="0" rtl="0" algn="l">
              <a:spcBef>
                <a:spcPts val="0"/>
              </a:spcBef>
              <a:spcAft>
                <a:spcPts val="0"/>
              </a:spcAft>
              <a:buNone/>
            </a:pPr>
            <a:r>
              <a:t/>
            </a:r>
            <a:endParaRPr sz="2000">
              <a:solidFill>
                <a:schemeClr val="dk1"/>
              </a:solidFill>
            </a:endParaRPr>
          </a:p>
        </p:txBody>
      </p:sp>
      <p:sp>
        <p:nvSpPr>
          <p:cNvPr id="56" name="Google Shape;56;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62" name="Google Shape;62;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63" name="Google Shape;63;p14"/>
          <p:cNvPicPr preferRelativeResize="0"/>
          <p:nvPr/>
        </p:nvPicPr>
        <p:blipFill>
          <a:blip r:embed="rId3">
            <a:alphaModFix/>
          </a:blip>
          <a:stretch>
            <a:fillRect/>
          </a:stretch>
        </p:blipFill>
        <p:spPr>
          <a:xfrm>
            <a:off x="0" y="0"/>
            <a:ext cx="9144000" cy="5143500"/>
          </a:xfrm>
          <a:prstGeom prst="rect">
            <a:avLst/>
          </a:prstGeom>
          <a:noFill/>
          <a:ln>
            <a:noFill/>
          </a:ln>
        </p:spPr>
      </p:pic>
      <p:sp>
        <p:nvSpPr>
          <p:cNvPr id="64" name="Google Shape;64;p14"/>
          <p:cNvSpPr txBox="1"/>
          <p:nvPr>
            <p:ph idx="4294967295" type="title"/>
          </p:nvPr>
        </p:nvSpPr>
        <p:spPr>
          <a:xfrm>
            <a:off x="457200" y="685800"/>
            <a:ext cx="8522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Presentation Outline  </a:t>
            </a:r>
            <a:endParaRPr b="1"/>
          </a:p>
        </p:txBody>
      </p:sp>
      <p:sp>
        <p:nvSpPr>
          <p:cNvPr id="65" name="Google Shape;65;p14"/>
          <p:cNvSpPr txBox="1"/>
          <p:nvPr>
            <p:ph idx="4294967295" type="body"/>
          </p:nvPr>
        </p:nvSpPr>
        <p:spPr>
          <a:xfrm>
            <a:off x="457200" y="1371600"/>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Team Introduction</a:t>
            </a:r>
            <a:endParaRPr/>
          </a:p>
          <a:p>
            <a:pPr indent="-342900" lvl="0" marL="457200" rtl="0" algn="l">
              <a:spcBef>
                <a:spcPts val="0"/>
              </a:spcBef>
              <a:spcAft>
                <a:spcPts val="0"/>
              </a:spcAft>
              <a:buSzPts val="1800"/>
              <a:buChar char="●"/>
            </a:pPr>
            <a:r>
              <a:rPr lang="en"/>
              <a:t>Background</a:t>
            </a:r>
            <a:endParaRPr/>
          </a:p>
          <a:p>
            <a:pPr indent="-342900" lvl="0" marL="457200" rtl="0" algn="l">
              <a:spcBef>
                <a:spcPts val="0"/>
              </a:spcBef>
              <a:spcAft>
                <a:spcPts val="0"/>
              </a:spcAft>
              <a:buSzPts val="1800"/>
              <a:buChar char="●"/>
            </a:pPr>
            <a:r>
              <a:rPr lang="en"/>
              <a:t>Medical Significance of Asthma</a:t>
            </a:r>
            <a:endParaRPr/>
          </a:p>
          <a:p>
            <a:pPr indent="-342900" lvl="0" marL="457200" rtl="0" algn="l">
              <a:spcBef>
                <a:spcPts val="0"/>
              </a:spcBef>
              <a:spcAft>
                <a:spcPts val="0"/>
              </a:spcAft>
              <a:buSzPts val="1800"/>
              <a:buChar char="●"/>
            </a:pPr>
            <a:r>
              <a:rPr lang="en"/>
              <a:t>Available Market Solutions</a:t>
            </a:r>
            <a:endParaRPr/>
          </a:p>
          <a:p>
            <a:pPr indent="-342900" lvl="0" marL="457200" rtl="0" algn="l">
              <a:spcBef>
                <a:spcPts val="0"/>
              </a:spcBef>
              <a:spcAft>
                <a:spcPts val="0"/>
              </a:spcAft>
              <a:buSzPts val="1800"/>
              <a:buChar char="●"/>
            </a:pPr>
            <a:r>
              <a:rPr lang="en"/>
              <a:t>Literature Review</a:t>
            </a:r>
            <a:endParaRPr/>
          </a:p>
          <a:p>
            <a:pPr indent="-342900" lvl="0" marL="457200" rtl="0" algn="l">
              <a:spcBef>
                <a:spcPts val="0"/>
              </a:spcBef>
              <a:spcAft>
                <a:spcPts val="0"/>
              </a:spcAft>
              <a:buSzPts val="1800"/>
              <a:buChar char="●"/>
            </a:pPr>
            <a:r>
              <a:rPr lang="en"/>
              <a:t>Need for Wearable Technology</a:t>
            </a:r>
            <a:endParaRPr/>
          </a:p>
          <a:p>
            <a:pPr indent="-342900" lvl="0" marL="457200" rtl="0" algn="l">
              <a:spcBef>
                <a:spcPts val="0"/>
              </a:spcBef>
              <a:spcAft>
                <a:spcPts val="0"/>
              </a:spcAft>
              <a:buSzPts val="1800"/>
              <a:buChar char="●"/>
            </a:pPr>
            <a:r>
              <a:rPr lang="en"/>
              <a:t>Project Overview</a:t>
            </a:r>
            <a:endParaRPr/>
          </a:p>
          <a:p>
            <a:pPr indent="-342900" lvl="0" marL="457200" rtl="0" algn="l">
              <a:spcBef>
                <a:spcPts val="0"/>
              </a:spcBef>
              <a:spcAft>
                <a:spcPts val="0"/>
              </a:spcAft>
              <a:buSzPts val="1800"/>
              <a:buChar char="●"/>
            </a:pPr>
            <a:r>
              <a:rPr lang="en"/>
              <a:t>Conclusion</a:t>
            </a:r>
            <a:endParaRPr/>
          </a:p>
          <a:p>
            <a:pPr indent="-342900" lvl="0" marL="457200" rtl="0" algn="l">
              <a:spcBef>
                <a:spcPts val="0"/>
              </a:spcBef>
              <a:spcAft>
                <a:spcPts val="0"/>
              </a:spcAft>
              <a:buSzPts val="1800"/>
              <a:buChar char="●"/>
            </a:pPr>
            <a:r>
              <a:rPr lang="en"/>
              <a:t>References</a:t>
            </a:r>
            <a:endParaRPr/>
          </a:p>
        </p:txBody>
      </p:sp>
      <p:sp>
        <p:nvSpPr>
          <p:cNvPr id="66" name="Google Shape;66;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72" name="Google Shape;72;p1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73" name="Google Shape;73;p15"/>
          <p:cNvPicPr preferRelativeResize="0"/>
          <p:nvPr/>
        </p:nvPicPr>
        <p:blipFill>
          <a:blip r:embed="rId3">
            <a:alphaModFix/>
          </a:blip>
          <a:stretch>
            <a:fillRect/>
          </a:stretch>
        </p:blipFill>
        <p:spPr>
          <a:xfrm>
            <a:off x="0" y="0"/>
            <a:ext cx="9144000" cy="5143500"/>
          </a:xfrm>
          <a:prstGeom prst="rect">
            <a:avLst/>
          </a:prstGeom>
          <a:noFill/>
          <a:ln>
            <a:noFill/>
          </a:ln>
        </p:spPr>
      </p:pic>
      <p:sp>
        <p:nvSpPr>
          <p:cNvPr id="74" name="Google Shape;74;p15"/>
          <p:cNvSpPr txBox="1"/>
          <p:nvPr>
            <p:ph idx="4294967295" type="title"/>
          </p:nvPr>
        </p:nvSpPr>
        <p:spPr>
          <a:xfrm>
            <a:off x="457200" y="685800"/>
            <a:ext cx="8522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Background</a:t>
            </a:r>
            <a:endParaRPr b="1"/>
          </a:p>
        </p:txBody>
      </p:sp>
      <p:sp>
        <p:nvSpPr>
          <p:cNvPr id="75" name="Google Shape;75;p15"/>
          <p:cNvSpPr txBox="1"/>
          <p:nvPr>
            <p:ph idx="4294967295" type="body"/>
          </p:nvPr>
        </p:nvSpPr>
        <p:spPr>
          <a:xfrm>
            <a:off x="4238425" y="1371600"/>
            <a:ext cx="47394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sz="1500"/>
              <a:t>Most significant r</a:t>
            </a:r>
            <a:r>
              <a:rPr lang="en" sz="1500"/>
              <a:t>espiratory illnesses are asthma, chronic obstructive pulmonary disease (COPD), and lung cancer, affecting around </a:t>
            </a:r>
            <a:r>
              <a:rPr b="1" lang="en" sz="1500"/>
              <a:t>34 million lives</a:t>
            </a:r>
            <a:r>
              <a:rPr lang="en" sz="1500"/>
              <a:t> in U.S.</a:t>
            </a:r>
            <a:endParaRPr sz="1500"/>
          </a:p>
          <a:p>
            <a:pPr indent="-323850" lvl="0" marL="457200" rtl="0" algn="l">
              <a:spcBef>
                <a:spcPts val="0"/>
              </a:spcBef>
              <a:spcAft>
                <a:spcPts val="0"/>
              </a:spcAft>
              <a:buSzPts val="1500"/>
              <a:buChar char="●"/>
            </a:pPr>
            <a:r>
              <a:rPr lang="en" sz="1500"/>
              <a:t>Out of them, a</a:t>
            </a:r>
            <a:r>
              <a:rPr lang="en" sz="1500"/>
              <a:t>sthma affects approximately 25 million people in the U.S., with </a:t>
            </a:r>
            <a:r>
              <a:rPr b="1" lang="en" sz="1500"/>
              <a:t>7 million being children</a:t>
            </a:r>
            <a:r>
              <a:rPr lang="en" sz="1500"/>
              <a:t>[2].</a:t>
            </a:r>
            <a:endParaRPr sz="1500"/>
          </a:p>
          <a:p>
            <a:pPr indent="-323850" lvl="0" marL="457200" rtl="0" algn="l">
              <a:spcBef>
                <a:spcPts val="0"/>
              </a:spcBef>
              <a:spcAft>
                <a:spcPts val="0"/>
              </a:spcAft>
              <a:buSzPts val="1500"/>
              <a:buChar char="●"/>
            </a:pPr>
            <a:r>
              <a:rPr lang="en" sz="1500"/>
              <a:t>Asthma exacerbations are triggered by allergens, pollutants, and environmental factors like cold air[3].</a:t>
            </a:r>
            <a:endParaRPr sz="1500"/>
          </a:p>
        </p:txBody>
      </p:sp>
      <p:sp>
        <p:nvSpPr>
          <p:cNvPr id="76" name="Google Shape;76;p15"/>
          <p:cNvSpPr/>
          <p:nvPr/>
        </p:nvSpPr>
        <p:spPr>
          <a:xfrm>
            <a:off x="1009250" y="1894575"/>
            <a:ext cx="3035100" cy="2052600"/>
          </a:xfrm>
          <a:prstGeom prst="rect">
            <a:avLst/>
          </a:prstGeom>
          <a:solidFill>
            <a:srgbClr val="FFFFFF"/>
          </a:solidFill>
          <a:ln cap="flat" cmpd="sng" w="28575">
            <a:solidFill>
              <a:srgbClr val="6D6D6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7" name="Google Shape;77;p15"/>
          <p:cNvPicPr preferRelativeResize="0"/>
          <p:nvPr/>
        </p:nvPicPr>
        <p:blipFill>
          <a:blip r:embed="rId4">
            <a:alphaModFix/>
          </a:blip>
          <a:stretch>
            <a:fillRect/>
          </a:stretch>
        </p:blipFill>
        <p:spPr>
          <a:xfrm>
            <a:off x="1047449" y="1933875"/>
            <a:ext cx="2958701" cy="1973999"/>
          </a:xfrm>
          <a:prstGeom prst="rect">
            <a:avLst/>
          </a:prstGeom>
          <a:noFill/>
          <a:ln>
            <a:noFill/>
          </a:ln>
        </p:spPr>
      </p:pic>
      <p:sp>
        <p:nvSpPr>
          <p:cNvPr id="78" name="Google Shape;78;p15"/>
          <p:cNvSpPr txBox="1"/>
          <p:nvPr/>
        </p:nvSpPr>
        <p:spPr>
          <a:xfrm>
            <a:off x="0" y="4835700"/>
            <a:ext cx="9144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rPr>
              <a:t>References - "Wearable Wireless Sensors for Chronic Respiratory Disease Monitoring" Dieffenderfer, J., et al. (2015)</a:t>
            </a:r>
            <a:endParaRPr sz="800">
              <a:solidFill>
                <a:schemeClr val="dk2"/>
              </a:solidFill>
            </a:endParaRPr>
          </a:p>
        </p:txBody>
      </p:sp>
      <p:sp>
        <p:nvSpPr>
          <p:cNvPr id="79" name="Google Shape;79;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85" name="Google Shape;85;p1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86" name="Google Shape;86;p16"/>
          <p:cNvPicPr preferRelativeResize="0"/>
          <p:nvPr/>
        </p:nvPicPr>
        <p:blipFill>
          <a:blip r:embed="rId3">
            <a:alphaModFix/>
          </a:blip>
          <a:stretch>
            <a:fillRect/>
          </a:stretch>
        </p:blipFill>
        <p:spPr>
          <a:xfrm>
            <a:off x="0" y="0"/>
            <a:ext cx="9144000" cy="5143500"/>
          </a:xfrm>
          <a:prstGeom prst="rect">
            <a:avLst/>
          </a:prstGeom>
          <a:noFill/>
          <a:ln>
            <a:noFill/>
          </a:ln>
        </p:spPr>
      </p:pic>
      <p:sp>
        <p:nvSpPr>
          <p:cNvPr id="87" name="Google Shape;87;p16"/>
          <p:cNvSpPr txBox="1"/>
          <p:nvPr>
            <p:ph idx="4294967295" type="title"/>
          </p:nvPr>
        </p:nvSpPr>
        <p:spPr>
          <a:xfrm>
            <a:off x="457200" y="685800"/>
            <a:ext cx="8522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Medical Significance of Asthma</a:t>
            </a:r>
            <a:endParaRPr b="1"/>
          </a:p>
          <a:p>
            <a:pPr indent="0" lvl="0" marL="0" rtl="0" algn="l">
              <a:spcBef>
                <a:spcPts val="0"/>
              </a:spcBef>
              <a:spcAft>
                <a:spcPts val="0"/>
              </a:spcAft>
              <a:buNone/>
            </a:pPr>
            <a:r>
              <a:t/>
            </a:r>
            <a:endParaRPr b="1"/>
          </a:p>
        </p:txBody>
      </p:sp>
      <p:sp>
        <p:nvSpPr>
          <p:cNvPr id="88" name="Google Shape;88;p16"/>
          <p:cNvSpPr txBox="1"/>
          <p:nvPr>
            <p:ph idx="4294967295" type="body"/>
          </p:nvPr>
        </p:nvSpPr>
        <p:spPr>
          <a:xfrm>
            <a:off x="457200" y="1371600"/>
            <a:ext cx="8417100" cy="1283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sz="1500"/>
              <a:t>Asthma Formation: Caused by airway inflammation and narrowing due to allergens, irritants, or genetics.  </a:t>
            </a:r>
            <a:endParaRPr sz="1500"/>
          </a:p>
          <a:p>
            <a:pPr indent="-323850" lvl="0" marL="457200" rtl="0" algn="l">
              <a:spcBef>
                <a:spcPts val="0"/>
              </a:spcBef>
              <a:spcAft>
                <a:spcPts val="0"/>
              </a:spcAft>
              <a:buSzPts val="1500"/>
              <a:buChar char="●"/>
            </a:pPr>
            <a:r>
              <a:rPr lang="en" sz="1500"/>
              <a:t>Sympt</a:t>
            </a:r>
            <a:r>
              <a:rPr lang="en" sz="1500"/>
              <a:t>oms: Wheezing, shortness of breath, chest tightness, and coughing, often triggered by exercise or allergens</a:t>
            </a:r>
            <a:r>
              <a:rPr lang="en"/>
              <a:t>.</a:t>
            </a:r>
            <a:endParaRPr/>
          </a:p>
        </p:txBody>
      </p:sp>
      <p:sp>
        <p:nvSpPr>
          <p:cNvPr id="89" name="Google Shape;89;p16"/>
          <p:cNvSpPr txBox="1"/>
          <p:nvPr/>
        </p:nvSpPr>
        <p:spPr>
          <a:xfrm>
            <a:off x="10350" y="4712400"/>
            <a:ext cx="9123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rPr>
              <a:t>References - "Low-power wearable systems for continuous monitoring of environment and health for chronic respiratory disease" Dieffenderfer, J., Goodell, H., et al. (2016), https://nurseslabs.com/asthma/</a:t>
            </a:r>
            <a:endParaRPr sz="800">
              <a:solidFill>
                <a:schemeClr val="dk2"/>
              </a:solidFill>
            </a:endParaRPr>
          </a:p>
        </p:txBody>
      </p:sp>
      <p:sp>
        <p:nvSpPr>
          <p:cNvPr id="90" name="Google Shape;90;p16"/>
          <p:cNvSpPr/>
          <p:nvPr/>
        </p:nvSpPr>
        <p:spPr>
          <a:xfrm>
            <a:off x="5709600" y="2429950"/>
            <a:ext cx="3164700" cy="2052600"/>
          </a:xfrm>
          <a:prstGeom prst="rect">
            <a:avLst/>
          </a:prstGeom>
          <a:solidFill>
            <a:srgbClr val="FFFFFF"/>
          </a:solidFill>
          <a:ln cap="flat" cmpd="sng" w="28575">
            <a:solidFill>
              <a:srgbClr val="6D6D6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1" name="Google Shape;91;p16" title="Fayl:Asthma attack-illustration NIH.jpg - Vikipediya"/>
          <p:cNvPicPr preferRelativeResize="0"/>
          <p:nvPr/>
        </p:nvPicPr>
        <p:blipFill>
          <a:blip r:embed="rId4">
            <a:alphaModFix/>
          </a:blip>
          <a:stretch>
            <a:fillRect/>
          </a:stretch>
        </p:blipFill>
        <p:spPr>
          <a:xfrm>
            <a:off x="5758275" y="2461375"/>
            <a:ext cx="2997026" cy="1987475"/>
          </a:xfrm>
          <a:prstGeom prst="rect">
            <a:avLst/>
          </a:prstGeom>
          <a:noFill/>
          <a:ln>
            <a:noFill/>
          </a:ln>
        </p:spPr>
      </p:pic>
      <p:sp>
        <p:nvSpPr>
          <p:cNvPr id="92" name="Google Shape;92;p16"/>
          <p:cNvSpPr txBox="1"/>
          <p:nvPr/>
        </p:nvSpPr>
        <p:spPr>
          <a:xfrm>
            <a:off x="500375" y="2492688"/>
            <a:ext cx="5180400" cy="17988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chemeClr val="dk2"/>
              </a:buClr>
              <a:buSzPts val="1500"/>
              <a:buChar char="●"/>
            </a:pPr>
            <a:r>
              <a:rPr lang="en" sz="1500">
                <a:solidFill>
                  <a:schemeClr val="dk2"/>
                </a:solidFill>
              </a:rPr>
              <a:t>1 in 12 individuals in the U.S. is affected by asthma​.</a:t>
            </a:r>
            <a:endParaRPr sz="1500">
              <a:solidFill>
                <a:schemeClr val="dk2"/>
              </a:solidFill>
            </a:endParaRPr>
          </a:p>
          <a:p>
            <a:pPr indent="-323850" lvl="0" marL="457200" rtl="0" algn="l">
              <a:lnSpc>
                <a:spcPct val="115000"/>
              </a:lnSpc>
              <a:spcBef>
                <a:spcPts val="0"/>
              </a:spcBef>
              <a:spcAft>
                <a:spcPts val="0"/>
              </a:spcAft>
              <a:buClr>
                <a:schemeClr val="dk2"/>
              </a:buClr>
              <a:buSzPts val="1500"/>
              <a:buChar char="●"/>
            </a:pPr>
            <a:r>
              <a:rPr lang="en" sz="1500">
                <a:solidFill>
                  <a:schemeClr val="dk2"/>
                </a:solidFill>
              </a:rPr>
              <a:t>In 2007, asthma cost $56 billion in medical expenses​.</a:t>
            </a:r>
            <a:endParaRPr sz="1500">
              <a:solidFill>
                <a:schemeClr val="dk2"/>
              </a:solidFill>
            </a:endParaRPr>
          </a:p>
          <a:p>
            <a:pPr indent="-323850" lvl="0" marL="457200" rtl="0" algn="l">
              <a:lnSpc>
                <a:spcPct val="115000"/>
              </a:lnSpc>
              <a:spcBef>
                <a:spcPts val="0"/>
              </a:spcBef>
              <a:spcAft>
                <a:spcPts val="0"/>
              </a:spcAft>
              <a:buClr>
                <a:schemeClr val="dk2"/>
              </a:buClr>
              <a:buSzPts val="1500"/>
              <a:buChar char="●"/>
            </a:pPr>
            <a:r>
              <a:rPr lang="en" sz="1500">
                <a:solidFill>
                  <a:schemeClr val="dk2"/>
                </a:solidFill>
              </a:rPr>
              <a:t>Ozone and volatile organic compounds (VOCs) are major triggers for asthma[4]​.</a:t>
            </a:r>
            <a:endParaRPr sz="1500">
              <a:solidFill>
                <a:schemeClr val="dk2"/>
              </a:solidFill>
            </a:endParaRPr>
          </a:p>
        </p:txBody>
      </p:sp>
      <p:sp>
        <p:nvSpPr>
          <p:cNvPr id="93" name="Google Shape;93;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99" name="Google Shape;99;p1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00" name="Google Shape;100;p17"/>
          <p:cNvPicPr preferRelativeResize="0"/>
          <p:nvPr/>
        </p:nvPicPr>
        <p:blipFill>
          <a:blip r:embed="rId3">
            <a:alphaModFix/>
          </a:blip>
          <a:stretch>
            <a:fillRect/>
          </a:stretch>
        </p:blipFill>
        <p:spPr>
          <a:xfrm>
            <a:off x="0" y="0"/>
            <a:ext cx="9144000" cy="5143500"/>
          </a:xfrm>
          <a:prstGeom prst="rect">
            <a:avLst/>
          </a:prstGeom>
          <a:noFill/>
          <a:ln>
            <a:noFill/>
          </a:ln>
        </p:spPr>
      </p:pic>
      <p:sp>
        <p:nvSpPr>
          <p:cNvPr id="101" name="Google Shape;101;p17"/>
          <p:cNvSpPr txBox="1"/>
          <p:nvPr>
            <p:ph idx="4294967295" type="title"/>
          </p:nvPr>
        </p:nvSpPr>
        <p:spPr>
          <a:xfrm>
            <a:off x="457200" y="685800"/>
            <a:ext cx="8522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Available Market Solutions</a:t>
            </a:r>
            <a:endParaRPr b="1"/>
          </a:p>
        </p:txBody>
      </p:sp>
      <p:sp>
        <p:nvSpPr>
          <p:cNvPr id="102" name="Google Shape;102;p17"/>
          <p:cNvSpPr txBox="1"/>
          <p:nvPr>
            <p:ph idx="4294967295" type="body"/>
          </p:nvPr>
        </p:nvSpPr>
        <p:spPr>
          <a:xfrm>
            <a:off x="876300" y="2723225"/>
            <a:ext cx="1385400" cy="289200"/>
          </a:xfrm>
          <a:prstGeom prst="rect">
            <a:avLst/>
          </a:prstGeom>
        </p:spPr>
        <p:txBody>
          <a:bodyPr anchorCtr="0" anchor="t" bIns="91425" lIns="91425" spcFirstLastPara="1" rIns="91425" wrap="square" tIns="91425">
            <a:normAutofit fontScale="25000" lnSpcReduction="20000"/>
          </a:bodyPr>
          <a:lstStyle/>
          <a:p>
            <a:pPr indent="0" lvl="0" marL="0" rtl="0" algn="ctr">
              <a:spcBef>
                <a:spcPts val="0"/>
              </a:spcBef>
              <a:spcAft>
                <a:spcPts val="0"/>
              </a:spcAft>
              <a:buNone/>
            </a:pPr>
            <a:r>
              <a:rPr b="1" lang="en" sz="5600">
                <a:solidFill>
                  <a:schemeClr val="dk1"/>
                </a:solidFill>
              </a:rPr>
              <a:t>Spirometer[5]</a:t>
            </a:r>
            <a:endParaRPr b="1" sz="5600">
              <a:solidFill>
                <a:schemeClr val="dk1"/>
              </a:solidFill>
            </a:endParaRPr>
          </a:p>
          <a:p>
            <a:pPr indent="0" lvl="0" marL="457200" rtl="0" algn="l">
              <a:spcBef>
                <a:spcPts val="1200"/>
              </a:spcBef>
              <a:spcAft>
                <a:spcPts val="0"/>
              </a:spcAft>
              <a:buNone/>
            </a:pPr>
            <a:r>
              <a:t/>
            </a:r>
            <a:endParaRPr sz="2000">
              <a:solidFill>
                <a:schemeClr val="dk1"/>
              </a:solidFill>
            </a:endParaRPr>
          </a:p>
          <a:p>
            <a:pPr indent="0" lvl="0" marL="457200" rtl="0" algn="l">
              <a:spcBef>
                <a:spcPts val="1200"/>
              </a:spcBef>
              <a:spcAft>
                <a:spcPts val="0"/>
              </a:spcAft>
              <a:buNone/>
            </a:pPr>
            <a:r>
              <a:t/>
            </a:r>
            <a:endParaRPr sz="2000">
              <a:solidFill>
                <a:schemeClr val="dk1"/>
              </a:solidFill>
            </a:endParaRPr>
          </a:p>
          <a:p>
            <a:pPr indent="0" lvl="0" marL="0" rtl="0" algn="l">
              <a:spcBef>
                <a:spcPts val="1200"/>
              </a:spcBef>
              <a:spcAft>
                <a:spcPts val="0"/>
              </a:spcAft>
              <a:buNone/>
            </a:pPr>
            <a:r>
              <a:t/>
            </a:r>
            <a:endParaRPr sz="2000">
              <a:solidFill>
                <a:schemeClr val="dk1"/>
              </a:solidFill>
            </a:endParaRPr>
          </a:p>
          <a:p>
            <a:pPr indent="0" lvl="0" marL="0" rtl="0" algn="l">
              <a:spcBef>
                <a:spcPts val="1200"/>
              </a:spcBef>
              <a:spcAft>
                <a:spcPts val="0"/>
              </a:spcAft>
              <a:buNone/>
            </a:pPr>
            <a:r>
              <a:t/>
            </a:r>
            <a:endParaRPr sz="2000">
              <a:solidFill>
                <a:schemeClr val="dk1"/>
              </a:solidFill>
            </a:endParaRPr>
          </a:p>
          <a:p>
            <a:pPr indent="0" lvl="0" marL="0" rtl="0" algn="l">
              <a:spcBef>
                <a:spcPts val="1200"/>
              </a:spcBef>
              <a:spcAft>
                <a:spcPts val="0"/>
              </a:spcAft>
              <a:buNone/>
            </a:pPr>
            <a:r>
              <a:t/>
            </a:r>
            <a:endParaRPr sz="2000">
              <a:solidFill>
                <a:schemeClr val="dk1"/>
              </a:solidFill>
            </a:endParaRPr>
          </a:p>
          <a:p>
            <a:pPr indent="0" lvl="0" marL="0" rtl="0" algn="l">
              <a:spcBef>
                <a:spcPts val="1200"/>
              </a:spcBef>
              <a:spcAft>
                <a:spcPts val="0"/>
              </a:spcAft>
              <a:buNone/>
            </a:pPr>
            <a:r>
              <a:t/>
            </a:r>
            <a:endParaRPr sz="2000">
              <a:solidFill>
                <a:schemeClr val="dk1"/>
              </a:solidFill>
            </a:endParaRPr>
          </a:p>
          <a:p>
            <a:pPr indent="0" lvl="0" marL="0" rtl="0" algn="l">
              <a:spcBef>
                <a:spcPts val="1200"/>
              </a:spcBef>
              <a:spcAft>
                <a:spcPts val="0"/>
              </a:spcAft>
              <a:buNone/>
            </a:pPr>
            <a:r>
              <a:t/>
            </a:r>
            <a:endParaRPr sz="2000">
              <a:solidFill>
                <a:schemeClr val="dk1"/>
              </a:solidFill>
            </a:endParaRPr>
          </a:p>
          <a:p>
            <a:pPr indent="0" lvl="0" marL="0" rtl="0" algn="l">
              <a:spcBef>
                <a:spcPts val="1200"/>
              </a:spcBef>
              <a:spcAft>
                <a:spcPts val="0"/>
              </a:spcAft>
              <a:buNone/>
            </a:pPr>
            <a:r>
              <a:t/>
            </a:r>
            <a:endParaRPr sz="2000">
              <a:solidFill>
                <a:schemeClr val="dk1"/>
              </a:solidFill>
            </a:endParaRPr>
          </a:p>
          <a:p>
            <a:pPr indent="0" lvl="0" marL="457200" rtl="0" algn="l">
              <a:spcBef>
                <a:spcPts val="1200"/>
              </a:spcBef>
              <a:spcAft>
                <a:spcPts val="1200"/>
              </a:spcAft>
              <a:buNone/>
            </a:pPr>
            <a:r>
              <a:t/>
            </a:r>
            <a:endParaRPr sz="2000">
              <a:solidFill>
                <a:schemeClr val="dk1"/>
              </a:solidFill>
            </a:endParaRPr>
          </a:p>
        </p:txBody>
      </p:sp>
      <p:sp>
        <p:nvSpPr>
          <p:cNvPr id="103" name="Google Shape;103;p17"/>
          <p:cNvSpPr/>
          <p:nvPr/>
        </p:nvSpPr>
        <p:spPr>
          <a:xfrm>
            <a:off x="942225" y="1475525"/>
            <a:ext cx="1221300" cy="1247700"/>
          </a:xfrm>
          <a:prstGeom prst="rect">
            <a:avLst/>
          </a:prstGeom>
          <a:solidFill>
            <a:srgbClr val="FFFFFF"/>
          </a:solidFill>
          <a:ln cap="flat" cmpd="sng" w="28575">
            <a:solidFill>
              <a:srgbClr val="6D6D6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4" name="Google Shape;104;p17"/>
          <p:cNvPicPr preferRelativeResize="0"/>
          <p:nvPr/>
        </p:nvPicPr>
        <p:blipFill>
          <a:blip r:embed="rId4">
            <a:alphaModFix/>
          </a:blip>
          <a:stretch>
            <a:fillRect/>
          </a:stretch>
        </p:blipFill>
        <p:spPr>
          <a:xfrm>
            <a:off x="987950" y="1522350"/>
            <a:ext cx="1147625" cy="1147625"/>
          </a:xfrm>
          <a:prstGeom prst="rect">
            <a:avLst/>
          </a:prstGeom>
          <a:noFill/>
          <a:ln>
            <a:noFill/>
          </a:ln>
        </p:spPr>
      </p:pic>
      <p:cxnSp>
        <p:nvCxnSpPr>
          <p:cNvPr id="105" name="Google Shape;105;p17"/>
          <p:cNvCxnSpPr/>
          <p:nvPr/>
        </p:nvCxnSpPr>
        <p:spPr>
          <a:xfrm>
            <a:off x="3029050" y="1503625"/>
            <a:ext cx="7800" cy="3453600"/>
          </a:xfrm>
          <a:prstGeom prst="straightConnector1">
            <a:avLst/>
          </a:prstGeom>
          <a:noFill/>
          <a:ln cap="flat" cmpd="sng" w="9525">
            <a:solidFill>
              <a:schemeClr val="dk2"/>
            </a:solidFill>
            <a:prstDash val="solid"/>
            <a:round/>
            <a:headEnd len="med" w="med" type="none"/>
            <a:tailEnd len="med" w="med" type="none"/>
          </a:ln>
        </p:spPr>
      </p:cxnSp>
      <p:cxnSp>
        <p:nvCxnSpPr>
          <p:cNvPr id="106" name="Google Shape;106;p17"/>
          <p:cNvCxnSpPr/>
          <p:nvPr/>
        </p:nvCxnSpPr>
        <p:spPr>
          <a:xfrm>
            <a:off x="410425" y="3136275"/>
            <a:ext cx="5768700" cy="39000"/>
          </a:xfrm>
          <a:prstGeom prst="straightConnector1">
            <a:avLst/>
          </a:prstGeom>
          <a:noFill/>
          <a:ln cap="flat" cmpd="sng" w="9525">
            <a:solidFill>
              <a:schemeClr val="dk2"/>
            </a:solidFill>
            <a:prstDash val="solid"/>
            <a:round/>
            <a:headEnd len="med" w="med" type="none"/>
            <a:tailEnd len="med" w="med" type="none"/>
          </a:ln>
        </p:spPr>
      </p:cxnSp>
      <p:sp>
        <p:nvSpPr>
          <p:cNvPr id="107" name="Google Shape;107;p17"/>
          <p:cNvSpPr txBox="1"/>
          <p:nvPr>
            <p:ph idx="4294967295" type="body"/>
          </p:nvPr>
        </p:nvSpPr>
        <p:spPr>
          <a:xfrm>
            <a:off x="563875" y="4573800"/>
            <a:ext cx="1836300" cy="289200"/>
          </a:xfrm>
          <a:prstGeom prst="rect">
            <a:avLst/>
          </a:prstGeom>
        </p:spPr>
        <p:txBody>
          <a:bodyPr anchorCtr="0" anchor="t" bIns="91425" lIns="91425" spcFirstLastPara="1" rIns="91425" wrap="square" tIns="91425">
            <a:normAutofit fontScale="25000" lnSpcReduction="20000"/>
          </a:bodyPr>
          <a:lstStyle/>
          <a:p>
            <a:pPr indent="0" lvl="0" marL="0" rtl="0" algn="ctr">
              <a:spcBef>
                <a:spcPts val="0"/>
              </a:spcBef>
              <a:spcAft>
                <a:spcPts val="0"/>
              </a:spcAft>
              <a:buClr>
                <a:schemeClr val="dk1"/>
              </a:buClr>
              <a:buSzPts val="275"/>
              <a:buFont typeface="Arial"/>
              <a:buNone/>
            </a:pPr>
            <a:r>
              <a:rPr b="1" lang="en" sz="5573">
                <a:solidFill>
                  <a:schemeClr val="dk1"/>
                </a:solidFill>
              </a:rPr>
              <a:t>FeNO Monitors[7] </a:t>
            </a:r>
            <a:endParaRPr sz="2000">
              <a:solidFill>
                <a:schemeClr val="dk1"/>
              </a:solidFill>
            </a:endParaRPr>
          </a:p>
          <a:p>
            <a:pPr indent="0" lvl="0" marL="457200" rtl="0" algn="l">
              <a:spcBef>
                <a:spcPts val="1200"/>
              </a:spcBef>
              <a:spcAft>
                <a:spcPts val="0"/>
              </a:spcAft>
              <a:buNone/>
            </a:pPr>
            <a:r>
              <a:t/>
            </a:r>
            <a:endParaRPr sz="2000">
              <a:solidFill>
                <a:schemeClr val="dk1"/>
              </a:solidFill>
            </a:endParaRPr>
          </a:p>
          <a:p>
            <a:pPr indent="0" lvl="0" marL="0" rtl="0" algn="l">
              <a:spcBef>
                <a:spcPts val="1200"/>
              </a:spcBef>
              <a:spcAft>
                <a:spcPts val="0"/>
              </a:spcAft>
              <a:buNone/>
            </a:pPr>
            <a:r>
              <a:t/>
            </a:r>
            <a:endParaRPr sz="2000">
              <a:solidFill>
                <a:schemeClr val="dk1"/>
              </a:solidFill>
            </a:endParaRPr>
          </a:p>
          <a:p>
            <a:pPr indent="0" lvl="0" marL="0" rtl="0" algn="l">
              <a:spcBef>
                <a:spcPts val="1200"/>
              </a:spcBef>
              <a:spcAft>
                <a:spcPts val="0"/>
              </a:spcAft>
              <a:buNone/>
            </a:pPr>
            <a:r>
              <a:t/>
            </a:r>
            <a:endParaRPr sz="2000">
              <a:solidFill>
                <a:schemeClr val="dk1"/>
              </a:solidFill>
            </a:endParaRPr>
          </a:p>
          <a:p>
            <a:pPr indent="0" lvl="0" marL="0" rtl="0" algn="l">
              <a:spcBef>
                <a:spcPts val="1200"/>
              </a:spcBef>
              <a:spcAft>
                <a:spcPts val="0"/>
              </a:spcAft>
              <a:buNone/>
            </a:pPr>
            <a:r>
              <a:t/>
            </a:r>
            <a:endParaRPr sz="2000">
              <a:solidFill>
                <a:schemeClr val="dk1"/>
              </a:solidFill>
            </a:endParaRPr>
          </a:p>
          <a:p>
            <a:pPr indent="0" lvl="0" marL="0" rtl="0" algn="l">
              <a:spcBef>
                <a:spcPts val="1200"/>
              </a:spcBef>
              <a:spcAft>
                <a:spcPts val="0"/>
              </a:spcAft>
              <a:buNone/>
            </a:pPr>
            <a:r>
              <a:t/>
            </a:r>
            <a:endParaRPr sz="2000">
              <a:solidFill>
                <a:schemeClr val="dk1"/>
              </a:solidFill>
            </a:endParaRPr>
          </a:p>
          <a:p>
            <a:pPr indent="0" lvl="0" marL="0" rtl="0" algn="l">
              <a:spcBef>
                <a:spcPts val="1200"/>
              </a:spcBef>
              <a:spcAft>
                <a:spcPts val="0"/>
              </a:spcAft>
              <a:buNone/>
            </a:pPr>
            <a:r>
              <a:t/>
            </a:r>
            <a:endParaRPr sz="2000">
              <a:solidFill>
                <a:schemeClr val="dk1"/>
              </a:solidFill>
            </a:endParaRPr>
          </a:p>
          <a:p>
            <a:pPr indent="0" lvl="0" marL="0" rtl="0" algn="l">
              <a:spcBef>
                <a:spcPts val="1200"/>
              </a:spcBef>
              <a:spcAft>
                <a:spcPts val="0"/>
              </a:spcAft>
              <a:buNone/>
            </a:pPr>
            <a:r>
              <a:t/>
            </a:r>
            <a:endParaRPr sz="2000">
              <a:solidFill>
                <a:schemeClr val="dk1"/>
              </a:solidFill>
            </a:endParaRPr>
          </a:p>
          <a:p>
            <a:pPr indent="0" lvl="0" marL="457200" rtl="0" algn="l">
              <a:spcBef>
                <a:spcPts val="1200"/>
              </a:spcBef>
              <a:spcAft>
                <a:spcPts val="1200"/>
              </a:spcAft>
              <a:buNone/>
            </a:pPr>
            <a:r>
              <a:t/>
            </a:r>
            <a:endParaRPr sz="2000">
              <a:solidFill>
                <a:schemeClr val="dk1"/>
              </a:solidFill>
            </a:endParaRPr>
          </a:p>
        </p:txBody>
      </p:sp>
      <p:sp>
        <p:nvSpPr>
          <p:cNvPr id="108" name="Google Shape;108;p17"/>
          <p:cNvSpPr/>
          <p:nvPr/>
        </p:nvSpPr>
        <p:spPr>
          <a:xfrm>
            <a:off x="914400" y="3326100"/>
            <a:ext cx="1221300" cy="1247700"/>
          </a:xfrm>
          <a:prstGeom prst="rect">
            <a:avLst/>
          </a:prstGeom>
          <a:solidFill>
            <a:srgbClr val="FFFFFF"/>
          </a:solidFill>
          <a:ln cap="flat" cmpd="sng" w="28575">
            <a:solidFill>
              <a:srgbClr val="6D6D6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17"/>
          <p:cNvSpPr txBox="1"/>
          <p:nvPr>
            <p:ph idx="4294967295" type="body"/>
          </p:nvPr>
        </p:nvSpPr>
        <p:spPr>
          <a:xfrm>
            <a:off x="3743125" y="2721200"/>
            <a:ext cx="1575300" cy="2892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Clr>
                <a:schemeClr val="dk1"/>
              </a:buClr>
              <a:buSzPts val="275"/>
              <a:buFont typeface="Arial"/>
              <a:buNone/>
            </a:pPr>
            <a:r>
              <a:rPr b="1" lang="en" sz="4800">
                <a:solidFill>
                  <a:schemeClr val="dk1"/>
                </a:solidFill>
              </a:rPr>
              <a:t>Peak Flow meter[6]</a:t>
            </a:r>
            <a:endParaRPr sz="4800">
              <a:solidFill>
                <a:schemeClr val="dk1"/>
              </a:solidFill>
            </a:endParaRPr>
          </a:p>
          <a:p>
            <a:pPr indent="0" lvl="0" marL="457200" rtl="0" algn="l">
              <a:spcBef>
                <a:spcPts val="1200"/>
              </a:spcBef>
              <a:spcAft>
                <a:spcPts val="0"/>
              </a:spcAft>
              <a:buNone/>
            </a:pPr>
            <a:r>
              <a:t/>
            </a:r>
            <a:endParaRPr b="1" sz="5600">
              <a:solidFill>
                <a:schemeClr val="dk1"/>
              </a:solidFill>
            </a:endParaRPr>
          </a:p>
          <a:p>
            <a:pPr indent="0" lvl="0" marL="457200" rtl="0" algn="l">
              <a:spcBef>
                <a:spcPts val="1200"/>
              </a:spcBef>
              <a:spcAft>
                <a:spcPts val="0"/>
              </a:spcAft>
              <a:buNone/>
            </a:pPr>
            <a:r>
              <a:t/>
            </a:r>
            <a:endParaRPr sz="2000">
              <a:solidFill>
                <a:schemeClr val="dk1"/>
              </a:solidFill>
            </a:endParaRPr>
          </a:p>
          <a:p>
            <a:pPr indent="0" lvl="0" marL="0" rtl="0" algn="l">
              <a:spcBef>
                <a:spcPts val="1200"/>
              </a:spcBef>
              <a:spcAft>
                <a:spcPts val="0"/>
              </a:spcAft>
              <a:buNone/>
            </a:pPr>
            <a:r>
              <a:t/>
            </a:r>
            <a:endParaRPr sz="2000">
              <a:solidFill>
                <a:schemeClr val="dk1"/>
              </a:solidFill>
            </a:endParaRPr>
          </a:p>
          <a:p>
            <a:pPr indent="0" lvl="0" marL="0" rtl="0" algn="l">
              <a:spcBef>
                <a:spcPts val="1200"/>
              </a:spcBef>
              <a:spcAft>
                <a:spcPts val="0"/>
              </a:spcAft>
              <a:buNone/>
            </a:pPr>
            <a:r>
              <a:t/>
            </a:r>
            <a:endParaRPr sz="2000">
              <a:solidFill>
                <a:schemeClr val="dk1"/>
              </a:solidFill>
            </a:endParaRPr>
          </a:p>
          <a:p>
            <a:pPr indent="0" lvl="0" marL="0" rtl="0" algn="l">
              <a:spcBef>
                <a:spcPts val="1200"/>
              </a:spcBef>
              <a:spcAft>
                <a:spcPts val="0"/>
              </a:spcAft>
              <a:buNone/>
            </a:pPr>
            <a:r>
              <a:t/>
            </a:r>
            <a:endParaRPr sz="2000">
              <a:solidFill>
                <a:schemeClr val="dk1"/>
              </a:solidFill>
            </a:endParaRPr>
          </a:p>
          <a:p>
            <a:pPr indent="0" lvl="0" marL="0" rtl="0" algn="l">
              <a:spcBef>
                <a:spcPts val="1200"/>
              </a:spcBef>
              <a:spcAft>
                <a:spcPts val="0"/>
              </a:spcAft>
              <a:buNone/>
            </a:pPr>
            <a:r>
              <a:t/>
            </a:r>
            <a:endParaRPr sz="2000">
              <a:solidFill>
                <a:schemeClr val="dk1"/>
              </a:solidFill>
            </a:endParaRPr>
          </a:p>
          <a:p>
            <a:pPr indent="0" lvl="0" marL="0" rtl="0" algn="l">
              <a:spcBef>
                <a:spcPts val="1200"/>
              </a:spcBef>
              <a:spcAft>
                <a:spcPts val="0"/>
              </a:spcAft>
              <a:buNone/>
            </a:pPr>
            <a:r>
              <a:t/>
            </a:r>
            <a:endParaRPr sz="2000">
              <a:solidFill>
                <a:schemeClr val="dk1"/>
              </a:solidFill>
            </a:endParaRPr>
          </a:p>
          <a:p>
            <a:pPr indent="0" lvl="0" marL="0" rtl="0" algn="l">
              <a:spcBef>
                <a:spcPts val="1200"/>
              </a:spcBef>
              <a:spcAft>
                <a:spcPts val="0"/>
              </a:spcAft>
              <a:buNone/>
            </a:pPr>
            <a:r>
              <a:t/>
            </a:r>
            <a:endParaRPr sz="2000">
              <a:solidFill>
                <a:schemeClr val="dk1"/>
              </a:solidFill>
            </a:endParaRPr>
          </a:p>
          <a:p>
            <a:pPr indent="0" lvl="0" marL="457200" rtl="0" algn="l">
              <a:spcBef>
                <a:spcPts val="1200"/>
              </a:spcBef>
              <a:spcAft>
                <a:spcPts val="1200"/>
              </a:spcAft>
              <a:buNone/>
            </a:pPr>
            <a:r>
              <a:t/>
            </a:r>
            <a:endParaRPr sz="2000">
              <a:solidFill>
                <a:schemeClr val="dk1"/>
              </a:solidFill>
            </a:endParaRPr>
          </a:p>
        </p:txBody>
      </p:sp>
      <p:sp>
        <p:nvSpPr>
          <p:cNvPr id="110" name="Google Shape;110;p17"/>
          <p:cNvSpPr/>
          <p:nvPr/>
        </p:nvSpPr>
        <p:spPr>
          <a:xfrm>
            <a:off x="3926125" y="1473500"/>
            <a:ext cx="1221300" cy="1247700"/>
          </a:xfrm>
          <a:prstGeom prst="rect">
            <a:avLst/>
          </a:prstGeom>
          <a:solidFill>
            <a:srgbClr val="FFFFFF"/>
          </a:solidFill>
          <a:ln cap="flat" cmpd="sng" w="28575">
            <a:solidFill>
              <a:srgbClr val="6D6D6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7"/>
          <p:cNvSpPr txBox="1"/>
          <p:nvPr>
            <p:ph idx="4294967295" type="body"/>
          </p:nvPr>
        </p:nvSpPr>
        <p:spPr>
          <a:xfrm>
            <a:off x="3725700" y="4571775"/>
            <a:ext cx="1678200" cy="289200"/>
          </a:xfrm>
          <a:prstGeom prst="rect">
            <a:avLst/>
          </a:prstGeom>
        </p:spPr>
        <p:txBody>
          <a:bodyPr anchorCtr="0" anchor="t" bIns="91425" lIns="91425" spcFirstLastPara="1" rIns="91425" wrap="square" tIns="91425">
            <a:normAutofit fontScale="25000" lnSpcReduction="20000"/>
          </a:bodyPr>
          <a:lstStyle/>
          <a:p>
            <a:pPr indent="0" lvl="0" marL="0" rtl="0" algn="ctr">
              <a:spcBef>
                <a:spcPts val="0"/>
              </a:spcBef>
              <a:spcAft>
                <a:spcPts val="0"/>
              </a:spcAft>
              <a:buClr>
                <a:schemeClr val="dk1"/>
              </a:buClr>
              <a:buSzPts val="275"/>
              <a:buFont typeface="Arial"/>
              <a:buNone/>
            </a:pPr>
            <a:r>
              <a:rPr b="1" lang="en" sz="5573">
                <a:solidFill>
                  <a:schemeClr val="dk1"/>
                </a:solidFill>
              </a:rPr>
              <a:t>Smart Inhalers [8]</a:t>
            </a:r>
            <a:endParaRPr b="1" sz="5573">
              <a:solidFill>
                <a:schemeClr val="dk1"/>
              </a:solidFill>
            </a:endParaRPr>
          </a:p>
          <a:p>
            <a:pPr indent="0" lvl="0" marL="457200" rtl="0" algn="l">
              <a:spcBef>
                <a:spcPts val="1200"/>
              </a:spcBef>
              <a:spcAft>
                <a:spcPts val="0"/>
              </a:spcAft>
              <a:buNone/>
            </a:pPr>
            <a:r>
              <a:t/>
            </a:r>
            <a:endParaRPr b="1" sz="5573">
              <a:solidFill>
                <a:schemeClr val="dk1"/>
              </a:solidFill>
            </a:endParaRPr>
          </a:p>
          <a:p>
            <a:pPr indent="0" lvl="0" marL="0" rtl="0" algn="l">
              <a:spcBef>
                <a:spcPts val="1200"/>
              </a:spcBef>
              <a:spcAft>
                <a:spcPts val="0"/>
              </a:spcAft>
              <a:buNone/>
            </a:pPr>
            <a:r>
              <a:t/>
            </a:r>
            <a:endParaRPr sz="2000">
              <a:solidFill>
                <a:schemeClr val="dk1"/>
              </a:solidFill>
            </a:endParaRPr>
          </a:p>
          <a:p>
            <a:pPr indent="0" lvl="0" marL="0" rtl="0" algn="l">
              <a:spcBef>
                <a:spcPts val="1200"/>
              </a:spcBef>
              <a:spcAft>
                <a:spcPts val="0"/>
              </a:spcAft>
              <a:buNone/>
            </a:pPr>
            <a:r>
              <a:t/>
            </a:r>
            <a:endParaRPr sz="2000">
              <a:solidFill>
                <a:schemeClr val="dk1"/>
              </a:solidFill>
            </a:endParaRPr>
          </a:p>
          <a:p>
            <a:pPr indent="0" lvl="0" marL="0" rtl="0" algn="l">
              <a:spcBef>
                <a:spcPts val="1200"/>
              </a:spcBef>
              <a:spcAft>
                <a:spcPts val="0"/>
              </a:spcAft>
              <a:buNone/>
            </a:pPr>
            <a:r>
              <a:t/>
            </a:r>
            <a:endParaRPr sz="2000">
              <a:solidFill>
                <a:schemeClr val="dk1"/>
              </a:solidFill>
            </a:endParaRPr>
          </a:p>
          <a:p>
            <a:pPr indent="0" lvl="0" marL="0" rtl="0" algn="l">
              <a:spcBef>
                <a:spcPts val="1200"/>
              </a:spcBef>
              <a:spcAft>
                <a:spcPts val="0"/>
              </a:spcAft>
              <a:buNone/>
            </a:pPr>
            <a:r>
              <a:t/>
            </a:r>
            <a:endParaRPr sz="2000">
              <a:solidFill>
                <a:schemeClr val="dk1"/>
              </a:solidFill>
            </a:endParaRPr>
          </a:p>
          <a:p>
            <a:pPr indent="0" lvl="0" marL="0" rtl="0" algn="l">
              <a:spcBef>
                <a:spcPts val="1200"/>
              </a:spcBef>
              <a:spcAft>
                <a:spcPts val="0"/>
              </a:spcAft>
              <a:buNone/>
            </a:pPr>
            <a:r>
              <a:t/>
            </a:r>
            <a:endParaRPr sz="2000">
              <a:solidFill>
                <a:schemeClr val="dk1"/>
              </a:solidFill>
            </a:endParaRPr>
          </a:p>
          <a:p>
            <a:pPr indent="0" lvl="0" marL="0" rtl="0" algn="l">
              <a:spcBef>
                <a:spcPts val="1200"/>
              </a:spcBef>
              <a:spcAft>
                <a:spcPts val="0"/>
              </a:spcAft>
              <a:buNone/>
            </a:pPr>
            <a:r>
              <a:t/>
            </a:r>
            <a:endParaRPr sz="2000">
              <a:solidFill>
                <a:schemeClr val="dk1"/>
              </a:solidFill>
            </a:endParaRPr>
          </a:p>
          <a:p>
            <a:pPr indent="0" lvl="0" marL="457200" rtl="0" algn="l">
              <a:spcBef>
                <a:spcPts val="1200"/>
              </a:spcBef>
              <a:spcAft>
                <a:spcPts val="1200"/>
              </a:spcAft>
              <a:buNone/>
            </a:pPr>
            <a:r>
              <a:t/>
            </a:r>
            <a:endParaRPr sz="2000">
              <a:solidFill>
                <a:schemeClr val="dk1"/>
              </a:solidFill>
            </a:endParaRPr>
          </a:p>
        </p:txBody>
      </p:sp>
      <p:sp>
        <p:nvSpPr>
          <p:cNvPr id="112" name="Google Shape;112;p17"/>
          <p:cNvSpPr/>
          <p:nvPr/>
        </p:nvSpPr>
        <p:spPr>
          <a:xfrm>
            <a:off x="3898300" y="3324075"/>
            <a:ext cx="1221300" cy="1247700"/>
          </a:xfrm>
          <a:prstGeom prst="rect">
            <a:avLst/>
          </a:prstGeom>
          <a:solidFill>
            <a:srgbClr val="FFFFFF"/>
          </a:solidFill>
          <a:ln cap="flat" cmpd="sng" w="28575">
            <a:solidFill>
              <a:srgbClr val="6D6D6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3" name="Google Shape;113;p17"/>
          <p:cNvPicPr preferRelativeResize="0"/>
          <p:nvPr/>
        </p:nvPicPr>
        <p:blipFill>
          <a:blip r:embed="rId5">
            <a:alphaModFix/>
          </a:blip>
          <a:stretch>
            <a:fillRect/>
          </a:stretch>
        </p:blipFill>
        <p:spPr>
          <a:xfrm>
            <a:off x="957375" y="3370900"/>
            <a:ext cx="1147625" cy="1147625"/>
          </a:xfrm>
          <a:prstGeom prst="rect">
            <a:avLst/>
          </a:prstGeom>
          <a:noFill/>
          <a:ln>
            <a:noFill/>
          </a:ln>
        </p:spPr>
      </p:pic>
      <p:pic>
        <p:nvPicPr>
          <p:cNvPr id="114" name="Google Shape;114;p17"/>
          <p:cNvPicPr preferRelativeResize="0"/>
          <p:nvPr/>
        </p:nvPicPr>
        <p:blipFill>
          <a:blip r:embed="rId6">
            <a:alphaModFix/>
          </a:blip>
          <a:stretch>
            <a:fillRect/>
          </a:stretch>
        </p:blipFill>
        <p:spPr>
          <a:xfrm>
            <a:off x="3947676" y="1522411"/>
            <a:ext cx="1147499" cy="1147499"/>
          </a:xfrm>
          <a:prstGeom prst="rect">
            <a:avLst/>
          </a:prstGeom>
          <a:noFill/>
          <a:ln>
            <a:noFill/>
          </a:ln>
        </p:spPr>
      </p:pic>
      <p:pic>
        <p:nvPicPr>
          <p:cNvPr id="115" name="Google Shape;115;p17"/>
          <p:cNvPicPr preferRelativeResize="0"/>
          <p:nvPr/>
        </p:nvPicPr>
        <p:blipFill>
          <a:blip r:embed="rId7">
            <a:alphaModFix/>
          </a:blip>
          <a:stretch>
            <a:fillRect/>
          </a:stretch>
        </p:blipFill>
        <p:spPr>
          <a:xfrm>
            <a:off x="3875877" y="3350596"/>
            <a:ext cx="1221300" cy="1198701"/>
          </a:xfrm>
          <a:prstGeom prst="rect">
            <a:avLst/>
          </a:prstGeom>
          <a:noFill/>
          <a:ln>
            <a:noFill/>
          </a:ln>
        </p:spPr>
      </p:pic>
      <p:sp>
        <p:nvSpPr>
          <p:cNvPr id="116" name="Google Shape;116;p17"/>
          <p:cNvSpPr txBox="1"/>
          <p:nvPr/>
        </p:nvSpPr>
        <p:spPr>
          <a:xfrm>
            <a:off x="0" y="4835700"/>
            <a:ext cx="9144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rPr>
              <a:t>References - Website Link - https://www.cmihealth.com</a:t>
            </a:r>
            <a:endParaRPr sz="800">
              <a:solidFill>
                <a:schemeClr val="dk2"/>
              </a:solidFill>
            </a:endParaRPr>
          </a:p>
        </p:txBody>
      </p:sp>
      <p:cxnSp>
        <p:nvCxnSpPr>
          <p:cNvPr id="117" name="Google Shape;117;p17"/>
          <p:cNvCxnSpPr/>
          <p:nvPr/>
        </p:nvCxnSpPr>
        <p:spPr>
          <a:xfrm>
            <a:off x="6187950" y="1503625"/>
            <a:ext cx="7800" cy="3453600"/>
          </a:xfrm>
          <a:prstGeom prst="straightConnector1">
            <a:avLst/>
          </a:prstGeom>
          <a:noFill/>
          <a:ln cap="flat" cmpd="sng" w="9525">
            <a:solidFill>
              <a:schemeClr val="dk2"/>
            </a:solidFill>
            <a:prstDash val="solid"/>
            <a:round/>
            <a:headEnd len="med" w="med" type="none"/>
            <a:tailEnd len="med" w="med" type="none"/>
          </a:ln>
        </p:spPr>
      </p:cxnSp>
      <p:sp>
        <p:nvSpPr>
          <p:cNvPr id="118" name="Google Shape;118;p17"/>
          <p:cNvSpPr/>
          <p:nvPr/>
        </p:nvSpPr>
        <p:spPr>
          <a:xfrm>
            <a:off x="6910025" y="1475525"/>
            <a:ext cx="1221300" cy="1247700"/>
          </a:xfrm>
          <a:prstGeom prst="rect">
            <a:avLst/>
          </a:prstGeom>
          <a:solidFill>
            <a:srgbClr val="FFFFFF"/>
          </a:solidFill>
          <a:ln cap="flat" cmpd="sng" w="28575">
            <a:solidFill>
              <a:srgbClr val="6D6D6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7"/>
          <p:cNvSpPr txBox="1"/>
          <p:nvPr>
            <p:ph idx="4294967295" type="body"/>
          </p:nvPr>
        </p:nvSpPr>
        <p:spPr>
          <a:xfrm>
            <a:off x="6738375" y="4518525"/>
            <a:ext cx="1575300" cy="2892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1200"/>
              </a:spcAft>
              <a:buNone/>
            </a:pPr>
            <a:r>
              <a:rPr b="1" lang="en" sz="4800">
                <a:solidFill>
                  <a:schemeClr val="dk1"/>
                </a:solidFill>
              </a:rPr>
              <a:t>Wearable Devices</a:t>
            </a:r>
            <a:endParaRPr sz="2000">
              <a:solidFill>
                <a:schemeClr val="dk1"/>
              </a:solidFill>
            </a:endParaRPr>
          </a:p>
        </p:txBody>
      </p:sp>
      <p:pic>
        <p:nvPicPr>
          <p:cNvPr id="120" name="Google Shape;120;p17"/>
          <p:cNvPicPr preferRelativeResize="0"/>
          <p:nvPr/>
        </p:nvPicPr>
        <p:blipFill>
          <a:blip r:embed="rId8">
            <a:alphaModFix/>
          </a:blip>
          <a:stretch>
            <a:fillRect/>
          </a:stretch>
        </p:blipFill>
        <p:spPr>
          <a:xfrm>
            <a:off x="7062425" y="1503625"/>
            <a:ext cx="927200" cy="1198700"/>
          </a:xfrm>
          <a:prstGeom prst="rect">
            <a:avLst/>
          </a:prstGeom>
          <a:noFill/>
          <a:ln>
            <a:noFill/>
          </a:ln>
        </p:spPr>
      </p:pic>
      <p:sp>
        <p:nvSpPr>
          <p:cNvPr id="121" name="Google Shape;121;p17"/>
          <p:cNvSpPr/>
          <p:nvPr/>
        </p:nvSpPr>
        <p:spPr>
          <a:xfrm>
            <a:off x="6882200" y="3145163"/>
            <a:ext cx="1221300" cy="1247700"/>
          </a:xfrm>
          <a:prstGeom prst="rect">
            <a:avLst/>
          </a:prstGeom>
          <a:solidFill>
            <a:srgbClr val="FFFFFF"/>
          </a:solidFill>
          <a:ln cap="flat" cmpd="sng" w="28575">
            <a:solidFill>
              <a:srgbClr val="6D6D6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2" name="Google Shape;122;p17"/>
          <p:cNvPicPr preferRelativeResize="0"/>
          <p:nvPr/>
        </p:nvPicPr>
        <p:blipFill>
          <a:blip r:embed="rId9">
            <a:alphaModFix/>
          </a:blip>
          <a:stretch>
            <a:fillRect/>
          </a:stretch>
        </p:blipFill>
        <p:spPr>
          <a:xfrm>
            <a:off x="6912899" y="3236812"/>
            <a:ext cx="1147500" cy="1064418"/>
          </a:xfrm>
          <a:prstGeom prst="rect">
            <a:avLst/>
          </a:prstGeom>
          <a:noFill/>
          <a:ln>
            <a:noFill/>
          </a:ln>
        </p:spPr>
      </p:pic>
      <p:sp>
        <p:nvSpPr>
          <p:cNvPr id="123" name="Google Shape;123;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29" name="Google Shape;129;p1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30" name="Google Shape;130;p18"/>
          <p:cNvPicPr preferRelativeResize="0"/>
          <p:nvPr/>
        </p:nvPicPr>
        <p:blipFill>
          <a:blip r:embed="rId3">
            <a:alphaModFix/>
          </a:blip>
          <a:stretch>
            <a:fillRect/>
          </a:stretch>
        </p:blipFill>
        <p:spPr>
          <a:xfrm>
            <a:off x="0" y="0"/>
            <a:ext cx="9144000" cy="5143500"/>
          </a:xfrm>
          <a:prstGeom prst="rect">
            <a:avLst/>
          </a:prstGeom>
          <a:noFill/>
          <a:ln>
            <a:noFill/>
          </a:ln>
        </p:spPr>
      </p:pic>
      <p:pic>
        <p:nvPicPr>
          <p:cNvPr id="131" name="Google Shape;131;p18"/>
          <p:cNvPicPr preferRelativeResize="0"/>
          <p:nvPr/>
        </p:nvPicPr>
        <p:blipFill>
          <a:blip r:embed="rId4">
            <a:alphaModFix/>
          </a:blip>
          <a:stretch>
            <a:fillRect/>
          </a:stretch>
        </p:blipFill>
        <p:spPr>
          <a:xfrm>
            <a:off x="757500" y="1258500"/>
            <a:ext cx="7452400" cy="3730925"/>
          </a:xfrm>
          <a:prstGeom prst="rect">
            <a:avLst/>
          </a:prstGeom>
          <a:noFill/>
          <a:ln>
            <a:noFill/>
          </a:ln>
        </p:spPr>
      </p:pic>
      <p:sp>
        <p:nvSpPr>
          <p:cNvPr id="132" name="Google Shape;132;p18"/>
          <p:cNvSpPr txBox="1"/>
          <p:nvPr>
            <p:ph idx="4294967295" type="title"/>
          </p:nvPr>
        </p:nvSpPr>
        <p:spPr>
          <a:xfrm>
            <a:off x="457200" y="685800"/>
            <a:ext cx="8522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Available Market Solutions : Spirometry</a:t>
            </a:r>
            <a:endParaRPr b="1"/>
          </a:p>
        </p:txBody>
      </p:sp>
      <p:sp>
        <p:nvSpPr>
          <p:cNvPr id="133" name="Google Shape;133;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39" name="Google Shape;139;p19"/>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40" name="Google Shape;140;p19"/>
          <p:cNvPicPr preferRelativeResize="0"/>
          <p:nvPr/>
        </p:nvPicPr>
        <p:blipFill>
          <a:blip r:embed="rId3">
            <a:alphaModFix/>
          </a:blip>
          <a:stretch>
            <a:fillRect/>
          </a:stretch>
        </p:blipFill>
        <p:spPr>
          <a:xfrm>
            <a:off x="0" y="0"/>
            <a:ext cx="9144000" cy="5143500"/>
          </a:xfrm>
          <a:prstGeom prst="rect">
            <a:avLst/>
          </a:prstGeom>
          <a:noFill/>
          <a:ln>
            <a:noFill/>
          </a:ln>
        </p:spPr>
      </p:pic>
      <p:sp>
        <p:nvSpPr>
          <p:cNvPr id="141" name="Google Shape;141;p19"/>
          <p:cNvSpPr txBox="1"/>
          <p:nvPr>
            <p:ph idx="4294967295" type="title"/>
          </p:nvPr>
        </p:nvSpPr>
        <p:spPr>
          <a:xfrm>
            <a:off x="457200" y="437200"/>
            <a:ext cx="8522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Available Market Solutions : FeNO Monitors</a:t>
            </a:r>
            <a:endParaRPr b="1"/>
          </a:p>
        </p:txBody>
      </p:sp>
      <p:pic>
        <p:nvPicPr>
          <p:cNvPr id="142" name="Google Shape;142;p19"/>
          <p:cNvPicPr preferRelativeResize="0"/>
          <p:nvPr/>
        </p:nvPicPr>
        <p:blipFill>
          <a:blip r:embed="rId4">
            <a:alphaModFix/>
          </a:blip>
          <a:stretch>
            <a:fillRect/>
          </a:stretch>
        </p:blipFill>
        <p:spPr>
          <a:xfrm>
            <a:off x="1393900" y="846450"/>
            <a:ext cx="6235351" cy="4220850"/>
          </a:xfrm>
          <a:prstGeom prst="rect">
            <a:avLst/>
          </a:prstGeom>
          <a:noFill/>
          <a:ln>
            <a:noFill/>
          </a:ln>
        </p:spPr>
      </p:pic>
      <p:sp>
        <p:nvSpPr>
          <p:cNvPr id="143" name="Google Shape;143;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49" name="Google Shape;149;p2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50" name="Google Shape;150;p20"/>
          <p:cNvPicPr preferRelativeResize="0"/>
          <p:nvPr/>
        </p:nvPicPr>
        <p:blipFill>
          <a:blip r:embed="rId3">
            <a:alphaModFix/>
          </a:blip>
          <a:stretch>
            <a:fillRect/>
          </a:stretch>
        </p:blipFill>
        <p:spPr>
          <a:xfrm>
            <a:off x="0" y="0"/>
            <a:ext cx="9144000" cy="5143500"/>
          </a:xfrm>
          <a:prstGeom prst="rect">
            <a:avLst/>
          </a:prstGeom>
          <a:noFill/>
          <a:ln>
            <a:noFill/>
          </a:ln>
        </p:spPr>
      </p:pic>
      <p:sp>
        <p:nvSpPr>
          <p:cNvPr id="151" name="Google Shape;151;p20"/>
          <p:cNvSpPr txBox="1"/>
          <p:nvPr>
            <p:ph idx="4294967295" type="title"/>
          </p:nvPr>
        </p:nvSpPr>
        <p:spPr>
          <a:xfrm>
            <a:off x="457200" y="437200"/>
            <a:ext cx="8522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Available Market Solutions : Peak Flow Meter</a:t>
            </a:r>
            <a:endParaRPr b="1"/>
          </a:p>
        </p:txBody>
      </p:sp>
      <p:pic>
        <p:nvPicPr>
          <p:cNvPr id="152" name="Google Shape;152;p20"/>
          <p:cNvPicPr preferRelativeResize="0"/>
          <p:nvPr/>
        </p:nvPicPr>
        <p:blipFill>
          <a:blip r:embed="rId4">
            <a:alphaModFix/>
          </a:blip>
          <a:stretch>
            <a:fillRect/>
          </a:stretch>
        </p:blipFill>
        <p:spPr>
          <a:xfrm>
            <a:off x="1263425" y="857700"/>
            <a:ext cx="6226025" cy="4209599"/>
          </a:xfrm>
          <a:prstGeom prst="rect">
            <a:avLst/>
          </a:prstGeom>
          <a:noFill/>
          <a:ln>
            <a:noFill/>
          </a:ln>
        </p:spPr>
      </p:pic>
      <p:sp>
        <p:nvSpPr>
          <p:cNvPr id="153" name="Google Shape;153;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marR="0" rtl="0" algn="l">
              <a:lnSpc>
                <a:spcPct val="100000"/>
              </a:lnSpc>
              <a:spcBef>
                <a:spcPts val="0"/>
              </a:spcBef>
              <a:spcAft>
                <a:spcPts val="0"/>
              </a:spcAft>
              <a:buNone/>
            </a:pPr>
            <a:r>
              <a:t/>
            </a:r>
            <a:endParaRPr sz="1000">
              <a:solidFill>
                <a:srgbClr val="000000"/>
              </a:solidFill>
            </a:endParaRPr>
          </a:p>
        </p:txBody>
      </p:sp>
      <p:sp>
        <p:nvSpPr>
          <p:cNvPr id="159" name="Google Shape;159;p2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60" name="Google Shape;160;p21"/>
          <p:cNvPicPr preferRelativeResize="0"/>
          <p:nvPr/>
        </p:nvPicPr>
        <p:blipFill>
          <a:blip r:embed="rId3">
            <a:alphaModFix/>
          </a:blip>
          <a:stretch>
            <a:fillRect/>
          </a:stretch>
        </p:blipFill>
        <p:spPr>
          <a:xfrm>
            <a:off x="0" y="0"/>
            <a:ext cx="9144000" cy="5143500"/>
          </a:xfrm>
          <a:prstGeom prst="rect">
            <a:avLst/>
          </a:prstGeom>
          <a:noFill/>
          <a:ln>
            <a:noFill/>
          </a:ln>
        </p:spPr>
      </p:pic>
      <p:sp>
        <p:nvSpPr>
          <p:cNvPr id="161" name="Google Shape;161;p21"/>
          <p:cNvSpPr txBox="1"/>
          <p:nvPr>
            <p:ph idx="4294967295" type="title"/>
          </p:nvPr>
        </p:nvSpPr>
        <p:spPr>
          <a:xfrm>
            <a:off x="457200" y="685800"/>
            <a:ext cx="8522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Literature Review</a:t>
            </a:r>
            <a:endParaRPr b="1"/>
          </a:p>
        </p:txBody>
      </p:sp>
      <p:graphicFrame>
        <p:nvGraphicFramePr>
          <p:cNvPr id="162" name="Google Shape;162;p21"/>
          <p:cNvGraphicFramePr/>
          <p:nvPr/>
        </p:nvGraphicFramePr>
        <p:xfrm>
          <a:off x="311700" y="1258488"/>
          <a:ext cx="3000000" cy="3000000"/>
        </p:xfrm>
        <a:graphic>
          <a:graphicData uri="http://schemas.openxmlformats.org/drawingml/2006/table">
            <a:tbl>
              <a:tblPr>
                <a:noFill/>
                <a:tableStyleId>{1E9CAC1F-34A4-4DF7-AB7A-E1E5FC962514}</a:tableStyleId>
              </a:tblPr>
              <a:tblGrid>
                <a:gridCol w="1886550"/>
                <a:gridCol w="1776950"/>
                <a:gridCol w="1140750"/>
                <a:gridCol w="1832675"/>
                <a:gridCol w="1952225"/>
              </a:tblGrid>
              <a:tr h="337125">
                <a:tc>
                  <a:txBody>
                    <a:bodyPr/>
                    <a:lstStyle/>
                    <a:p>
                      <a:pPr indent="0" lvl="0" marL="0" marR="0" rtl="0" algn="l">
                        <a:lnSpc>
                          <a:spcPct val="100000"/>
                        </a:lnSpc>
                        <a:spcBef>
                          <a:spcPts val="0"/>
                        </a:spcBef>
                        <a:spcAft>
                          <a:spcPts val="0"/>
                        </a:spcAft>
                        <a:buNone/>
                      </a:pPr>
                      <a:r>
                        <a:rPr b="1" lang="en" sz="950"/>
                        <a:t>Research Paper</a:t>
                      </a:r>
                      <a:endParaRPr b="1" sz="950"/>
                    </a:p>
                  </a:txBody>
                  <a:tcPr marT="91425" marB="91425" marR="91425" marL="91425"/>
                </a:tc>
                <a:tc>
                  <a:txBody>
                    <a:bodyPr/>
                    <a:lstStyle/>
                    <a:p>
                      <a:pPr indent="0" lvl="0" marL="0" marR="0" rtl="0" algn="l">
                        <a:lnSpc>
                          <a:spcPct val="100000"/>
                        </a:lnSpc>
                        <a:spcBef>
                          <a:spcPts val="0"/>
                        </a:spcBef>
                        <a:spcAft>
                          <a:spcPts val="0"/>
                        </a:spcAft>
                        <a:buNone/>
                      </a:pPr>
                      <a:r>
                        <a:rPr b="1" lang="en" sz="950"/>
                        <a:t>Data </a:t>
                      </a:r>
                      <a:endParaRPr b="1" sz="950"/>
                    </a:p>
                  </a:txBody>
                  <a:tcPr marT="91425" marB="91425" marR="91425" marL="91425"/>
                </a:tc>
                <a:tc>
                  <a:txBody>
                    <a:bodyPr/>
                    <a:lstStyle/>
                    <a:p>
                      <a:pPr indent="0" lvl="0" marL="0" marR="0" rtl="0" algn="l">
                        <a:lnSpc>
                          <a:spcPct val="100000"/>
                        </a:lnSpc>
                        <a:spcBef>
                          <a:spcPts val="0"/>
                        </a:spcBef>
                        <a:spcAft>
                          <a:spcPts val="0"/>
                        </a:spcAft>
                        <a:buNone/>
                      </a:pPr>
                      <a:r>
                        <a:rPr b="1" lang="en" sz="950"/>
                        <a:t>Result Accuracy</a:t>
                      </a:r>
                      <a:endParaRPr b="1" sz="950"/>
                    </a:p>
                  </a:txBody>
                  <a:tcPr marT="91425" marB="91425" marR="91425" marL="91425"/>
                </a:tc>
                <a:tc>
                  <a:txBody>
                    <a:bodyPr/>
                    <a:lstStyle/>
                    <a:p>
                      <a:pPr indent="0" lvl="0" marL="0" marR="0" rtl="0" algn="l">
                        <a:lnSpc>
                          <a:spcPct val="100000"/>
                        </a:lnSpc>
                        <a:spcBef>
                          <a:spcPts val="0"/>
                        </a:spcBef>
                        <a:spcAft>
                          <a:spcPts val="0"/>
                        </a:spcAft>
                        <a:buNone/>
                      </a:pPr>
                      <a:r>
                        <a:rPr b="1" lang="en" sz="950"/>
                        <a:t>Limitations</a:t>
                      </a:r>
                      <a:endParaRPr b="1" sz="950"/>
                    </a:p>
                  </a:txBody>
                  <a:tcPr marT="91425" marB="91425" marR="91425" marL="91425"/>
                </a:tc>
                <a:tc>
                  <a:txBody>
                    <a:bodyPr/>
                    <a:lstStyle/>
                    <a:p>
                      <a:pPr indent="0" lvl="0" marL="0" marR="0" rtl="0" algn="l">
                        <a:lnSpc>
                          <a:spcPct val="100000"/>
                        </a:lnSpc>
                        <a:spcBef>
                          <a:spcPts val="0"/>
                        </a:spcBef>
                        <a:spcAft>
                          <a:spcPts val="0"/>
                        </a:spcAft>
                        <a:buNone/>
                      </a:pPr>
                      <a:r>
                        <a:rPr b="1" lang="en" sz="950"/>
                        <a:t>Future Scope</a:t>
                      </a:r>
                      <a:endParaRPr b="1" sz="950"/>
                    </a:p>
                  </a:txBody>
                  <a:tcPr marT="91425" marB="91425" marR="91425" marL="91425"/>
                </a:tc>
              </a:tr>
              <a:tr h="471900">
                <a:tc>
                  <a:txBody>
                    <a:bodyPr/>
                    <a:lstStyle/>
                    <a:p>
                      <a:pPr indent="0" lvl="0" marL="0" marR="0" rtl="0" algn="l">
                        <a:lnSpc>
                          <a:spcPct val="100000"/>
                        </a:lnSpc>
                        <a:spcBef>
                          <a:spcPts val="0"/>
                        </a:spcBef>
                        <a:spcAft>
                          <a:spcPts val="0"/>
                        </a:spcAft>
                        <a:buNone/>
                      </a:pPr>
                      <a:r>
                        <a:rPr lang="en" sz="950"/>
                        <a:t>Smartphone based Cough detection[9]</a:t>
                      </a:r>
                      <a:endParaRPr sz="950"/>
                    </a:p>
                  </a:txBody>
                  <a:tcPr marT="91425" marB="91425" marR="91425" marL="91425"/>
                </a:tc>
                <a:tc>
                  <a:txBody>
                    <a:bodyPr/>
                    <a:lstStyle/>
                    <a:p>
                      <a:pPr indent="0" lvl="0" marL="0" marR="0" rtl="0" algn="l">
                        <a:lnSpc>
                          <a:spcPct val="100000"/>
                        </a:lnSpc>
                        <a:spcBef>
                          <a:spcPts val="0"/>
                        </a:spcBef>
                        <a:spcAft>
                          <a:spcPts val="0"/>
                        </a:spcAft>
                        <a:buNone/>
                      </a:pPr>
                      <a:r>
                        <a:rPr lang="en" sz="950"/>
                        <a:t>M</a:t>
                      </a:r>
                      <a:r>
                        <a:rPr lang="en" sz="950"/>
                        <a:t>edian age 39 years,62.5% female, and 75.0% never smokers. </a:t>
                      </a:r>
                      <a:endParaRPr sz="950"/>
                    </a:p>
                  </a:txBody>
                  <a:tcPr marT="91425" marB="91425" marR="74375" marL="91425"/>
                </a:tc>
                <a:tc>
                  <a:txBody>
                    <a:bodyPr/>
                    <a:lstStyle/>
                    <a:p>
                      <a:pPr indent="0" lvl="0" marL="0" marR="0" rtl="0" algn="l">
                        <a:lnSpc>
                          <a:spcPct val="100000"/>
                        </a:lnSpc>
                        <a:spcBef>
                          <a:spcPts val="0"/>
                        </a:spcBef>
                        <a:spcAft>
                          <a:spcPts val="0"/>
                        </a:spcAft>
                        <a:buNone/>
                      </a:pPr>
                      <a:r>
                        <a:rPr lang="en" sz="950"/>
                        <a:t>83% of cough </a:t>
                      </a:r>
                      <a:r>
                        <a:rPr lang="en" sz="950"/>
                        <a:t>sensitivity.</a:t>
                      </a:r>
                      <a:endParaRPr sz="950"/>
                    </a:p>
                  </a:txBody>
                  <a:tcPr marT="91425" marB="91425" marR="91425" marL="91425"/>
                </a:tc>
                <a:tc>
                  <a:txBody>
                    <a:bodyPr/>
                    <a:lstStyle/>
                    <a:p>
                      <a:pPr indent="0" lvl="0" marL="0" marR="0" rtl="0" algn="l">
                        <a:lnSpc>
                          <a:spcPct val="100000"/>
                        </a:lnSpc>
                        <a:spcBef>
                          <a:spcPts val="0"/>
                        </a:spcBef>
                        <a:spcAft>
                          <a:spcPts val="0"/>
                        </a:spcAft>
                        <a:buNone/>
                      </a:pPr>
                      <a:r>
                        <a:rPr lang="en" sz="950"/>
                        <a:t>2-hour recording may miss full wake period, patient-selected times reduce reliability</a:t>
                      </a:r>
                      <a:endParaRPr sz="950"/>
                    </a:p>
                  </a:txBody>
                  <a:tcPr marT="91425" marB="91425" marR="91425" marL="91425"/>
                </a:tc>
                <a:tc>
                  <a:txBody>
                    <a:bodyPr/>
                    <a:lstStyle/>
                    <a:p>
                      <a:pPr indent="0" lvl="0" marL="0" rtl="0" algn="l">
                        <a:spcBef>
                          <a:spcPts val="0"/>
                        </a:spcBef>
                        <a:spcAft>
                          <a:spcPts val="0"/>
                        </a:spcAft>
                        <a:buNone/>
                      </a:pPr>
                      <a:r>
                        <a:rPr lang="en" sz="950"/>
                        <a:t>Real-time monitoring and integration with larger datasets</a:t>
                      </a:r>
                      <a:endParaRPr sz="950"/>
                    </a:p>
                  </a:txBody>
                  <a:tcPr marT="91425" marB="91425" marR="91425" marL="91425"/>
                </a:tc>
              </a:tr>
              <a:tr h="544800">
                <a:tc>
                  <a:txBody>
                    <a:bodyPr/>
                    <a:lstStyle/>
                    <a:p>
                      <a:pPr indent="0" lvl="0" marL="0" marR="0" rtl="0" algn="l">
                        <a:lnSpc>
                          <a:spcPct val="100000"/>
                        </a:lnSpc>
                        <a:spcBef>
                          <a:spcPts val="0"/>
                        </a:spcBef>
                        <a:spcAft>
                          <a:spcPts val="0"/>
                        </a:spcAft>
                        <a:buNone/>
                      </a:pPr>
                      <a:r>
                        <a:rPr lang="en" sz="950"/>
                        <a:t>Detection and Recognition of Cough Sounds Using Deep Learning [10]</a:t>
                      </a:r>
                      <a:endParaRPr sz="950"/>
                    </a:p>
                  </a:txBody>
                  <a:tcPr marT="91425" marB="91425" marR="91425" marL="91425"/>
                </a:tc>
                <a:tc>
                  <a:txBody>
                    <a:bodyPr/>
                    <a:lstStyle/>
                    <a:p>
                      <a:pPr indent="0" lvl="0" marL="0" marR="0" rtl="0" algn="l">
                        <a:lnSpc>
                          <a:spcPct val="100000"/>
                        </a:lnSpc>
                        <a:spcBef>
                          <a:spcPts val="0"/>
                        </a:spcBef>
                        <a:spcAft>
                          <a:spcPts val="0"/>
                        </a:spcAft>
                        <a:buNone/>
                      </a:pPr>
                      <a:r>
                        <a:rPr lang="en" sz="950"/>
                        <a:t>15,000 cough samples from healthy and diseased patients</a:t>
                      </a:r>
                      <a:endParaRPr sz="95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950"/>
                        <a:t>78.09% accuracy</a:t>
                      </a:r>
                      <a:endParaRPr sz="950"/>
                    </a:p>
                    <a:p>
                      <a:pPr indent="0" lvl="0" marL="0" rtl="0" algn="l">
                        <a:spcBef>
                          <a:spcPts val="0"/>
                        </a:spcBef>
                        <a:spcAft>
                          <a:spcPts val="0"/>
                        </a:spcAft>
                        <a:buClr>
                          <a:schemeClr val="dk1"/>
                        </a:buClr>
                        <a:buSzPts val="1100"/>
                        <a:buFont typeface="Arial"/>
                        <a:buNone/>
                      </a:pPr>
                      <a:r>
                        <a:t/>
                      </a:r>
                      <a:endParaRPr sz="950"/>
                    </a:p>
                  </a:txBody>
                  <a:tcPr marT="91425" marB="91425" marR="91425" marL="91425"/>
                </a:tc>
                <a:tc>
                  <a:txBody>
                    <a:bodyPr/>
                    <a:lstStyle/>
                    <a:p>
                      <a:pPr indent="0" lvl="0" marL="0" marR="0" rtl="0" algn="l">
                        <a:lnSpc>
                          <a:spcPct val="100000"/>
                        </a:lnSpc>
                        <a:spcBef>
                          <a:spcPts val="0"/>
                        </a:spcBef>
                        <a:spcAft>
                          <a:spcPts val="0"/>
                        </a:spcAft>
                        <a:buNone/>
                      </a:pPr>
                      <a:r>
                        <a:rPr lang="en" sz="950"/>
                        <a:t>Issues with sound variability and intra-class differences</a:t>
                      </a:r>
                      <a:endParaRPr sz="950"/>
                    </a:p>
                  </a:txBody>
                  <a:tcPr marT="91425" marB="91425" marR="91425" marL="91425"/>
                </a:tc>
                <a:tc>
                  <a:txBody>
                    <a:bodyPr/>
                    <a:lstStyle/>
                    <a:p>
                      <a:pPr indent="0" lvl="0" marL="0" rtl="0" algn="l">
                        <a:spcBef>
                          <a:spcPts val="0"/>
                        </a:spcBef>
                        <a:spcAft>
                          <a:spcPts val="0"/>
                        </a:spcAft>
                        <a:buNone/>
                      </a:pPr>
                      <a:r>
                        <a:rPr lang="en" sz="950"/>
                        <a:t>Improve detection in noisy environments and public places like hospitals</a:t>
                      </a:r>
                      <a:endParaRPr sz="950"/>
                    </a:p>
                  </a:txBody>
                  <a:tcPr marT="91425" marB="91425" marR="91425" marL="91425"/>
                </a:tc>
              </a:tr>
              <a:tr h="613275">
                <a:tc>
                  <a:txBody>
                    <a:bodyPr/>
                    <a:lstStyle/>
                    <a:p>
                      <a:pPr indent="0" lvl="0" marL="0" marR="0" rtl="0" algn="l">
                        <a:lnSpc>
                          <a:spcPct val="100000"/>
                        </a:lnSpc>
                        <a:spcBef>
                          <a:spcPts val="0"/>
                        </a:spcBef>
                        <a:spcAft>
                          <a:spcPts val="0"/>
                        </a:spcAft>
                        <a:buNone/>
                      </a:pPr>
                      <a:r>
                        <a:rPr lang="en" sz="950"/>
                        <a:t>Deep learning based cough detection camera using enhanced features[11]</a:t>
                      </a:r>
                      <a:endParaRPr sz="950"/>
                    </a:p>
                  </a:txBody>
                  <a:tcPr marT="91425" marB="91425" marR="91425" marL="91425"/>
                </a:tc>
                <a:tc>
                  <a:txBody>
                    <a:bodyPr/>
                    <a:lstStyle/>
                    <a:p>
                      <a:pPr indent="0" lvl="0" marL="0" marR="0" rtl="0" algn="l">
                        <a:lnSpc>
                          <a:spcPct val="100000"/>
                        </a:lnSpc>
                        <a:spcBef>
                          <a:spcPts val="0"/>
                        </a:spcBef>
                        <a:spcAft>
                          <a:spcPts val="0"/>
                        </a:spcAft>
                        <a:buNone/>
                      </a:pPr>
                      <a:r>
                        <a:rPr lang="en" sz="950"/>
                        <a:t>Seven datasets including HUMAN20200923, Google AudioSet, DCASE2016-2019</a:t>
                      </a:r>
                      <a:endParaRPr sz="95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950"/>
                        <a:t>F1 score: 90.0%</a:t>
                      </a:r>
                      <a:endParaRPr sz="950"/>
                    </a:p>
                    <a:p>
                      <a:pPr indent="0" lvl="0" marL="0" marR="0" rtl="0" algn="l">
                        <a:lnSpc>
                          <a:spcPct val="100000"/>
                        </a:lnSpc>
                        <a:spcBef>
                          <a:spcPts val="0"/>
                        </a:spcBef>
                        <a:spcAft>
                          <a:spcPts val="0"/>
                        </a:spcAft>
                        <a:buNone/>
                      </a:pPr>
                      <a:r>
                        <a:t/>
                      </a:r>
                      <a:endParaRPr sz="950"/>
                    </a:p>
                  </a:txBody>
                  <a:tcPr marT="91425" marB="91425" marR="91425" marL="91425"/>
                </a:tc>
                <a:tc>
                  <a:txBody>
                    <a:bodyPr/>
                    <a:lstStyle/>
                    <a:p>
                      <a:pPr indent="0" lvl="0" marL="0" marR="0" rtl="0" algn="l">
                        <a:lnSpc>
                          <a:spcPct val="100000"/>
                        </a:lnSpc>
                        <a:spcBef>
                          <a:spcPts val="0"/>
                        </a:spcBef>
                        <a:spcAft>
                          <a:spcPts val="0"/>
                        </a:spcAft>
                        <a:buNone/>
                      </a:pPr>
                      <a:r>
                        <a:rPr lang="en" sz="950"/>
                        <a:t>Cannot detect COVID-19 directly</a:t>
                      </a:r>
                      <a:endParaRPr sz="950"/>
                    </a:p>
                  </a:txBody>
                  <a:tcPr marT="91425" marB="91425" marR="91425" marL="91425"/>
                </a:tc>
                <a:tc>
                  <a:txBody>
                    <a:bodyPr/>
                    <a:lstStyle/>
                    <a:p>
                      <a:pPr indent="0" lvl="0" marL="0" marR="0" rtl="0" algn="l">
                        <a:lnSpc>
                          <a:spcPct val="100000"/>
                        </a:lnSpc>
                        <a:spcBef>
                          <a:spcPts val="0"/>
                        </a:spcBef>
                        <a:spcAft>
                          <a:spcPts val="0"/>
                        </a:spcAft>
                        <a:buNone/>
                      </a:pPr>
                      <a:r>
                        <a:rPr lang="en" sz="950"/>
                        <a:t>Enhance performance in real environments, optimize inception module</a:t>
                      </a:r>
                      <a:endParaRPr sz="950"/>
                    </a:p>
                  </a:txBody>
                  <a:tcPr marT="91425" marB="91425" marR="91425" marL="91425"/>
                </a:tc>
              </a:tr>
              <a:tr h="688575">
                <a:tc>
                  <a:txBody>
                    <a:bodyPr/>
                    <a:lstStyle/>
                    <a:p>
                      <a:pPr indent="0" lvl="0" marL="0" marR="0" rtl="0" algn="l">
                        <a:lnSpc>
                          <a:spcPct val="100000"/>
                        </a:lnSpc>
                        <a:spcBef>
                          <a:spcPts val="0"/>
                        </a:spcBef>
                        <a:spcAft>
                          <a:spcPts val="0"/>
                        </a:spcAft>
                        <a:buNone/>
                      </a:pPr>
                      <a:r>
                        <a:rPr lang="en" sz="950"/>
                        <a:t>Automatic cough detection from realistic audio recordings using C-BiLSTM with boundary regression[12]</a:t>
                      </a:r>
                      <a:endParaRPr sz="950"/>
                    </a:p>
                  </a:txBody>
                  <a:tcPr marT="91425" marB="91425" marR="91425" marL="91425"/>
                </a:tc>
                <a:tc>
                  <a:txBody>
                    <a:bodyPr/>
                    <a:lstStyle/>
                    <a:p>
                      <a:pPr indent="0" lvl="0" marL="0" marR="0" rtl="0" algn="l">
                        <a:lnSpc>
                          <a:spcPct val="100000"/>
                        </a:lnSpc>
                        <a:spcBef>
                          <a:spcPts val="0"/>
                        </a:spcBef>
                        <a:spcAft>
                          <a:spcPts val="0"/>
                        </a:spcAft>
                        <a:buNone/>
                      </a:pPr>
                      <a:r>
                        <a:rPr lang="en" sz="950"/>
                        <a:t>9969 coughs over 168 hours from 42 patients with respiratory diseases</a:t>
                      </a:r>
                      <a:endParaRPr sz="95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950">
                          <a:solidFill>
                            <a:schemeClr val="dk1"/>
                          </a:solidFill>
                        </a:rPr>
                        <a:t>84.13% sensitivity</a:t>
                      </a:r>
                      <a:endParaRPr sz="950">
                        <a:solidFill>
                          <a:schemeClr val="dk1"/>
                        </a:solidFill>
                      </a:endParaRPr>
                    </a:p>
                    <a:p>
                      <a:pPr indent="0" lvl="0" marL="0" rtl="0" algn="l">
                        <a:spcBef>
                          <a:spcPts val="0"/>
                        </a:spcBef>
                        <a:spcAft>
                          <a:spcPts val="0"/>
                        </a:spcAft>
                        <a:buNone/>
                      </a:pPr>
                      <a:r>
                        <a:t/>
                      </a:r>
                      <a:endParaRPr sz="950"/>
                    </a:p>
                  </a:txBody>
                  <a:tcPr marT="91425" marB="91425" marR="91425" marL="91425"/>
                </a:tc>
                <a:tc>
                  <a:txBody>
                    <a:bodyPr/>
                    <a:lstStyle/>
                    <a:p>
                      <a:pPr indent="0" lvl="0" marL="0" marR="0" rtl="0" algn="l">
                        <a:lnSpc>
                          <a:spcPct val="100000"/>
                        </a:lnSpc>
                        <a:spcBef>
                          <a:spcPts val="0"/>
                        </a:spcBef>
                        <a:spcAft>
                          <a:spcPts val="0"/>
                        </a:spcAft>
                        <a:buNone/>
                      </a:pPr>
                      <a:r>
                        <a:rPr lang="en" sz="950"/>
                        <a:t>Based on controlled/artificial data; real environments pose challenges</a:t>
                      </a:r>
                      <a:endParaRPr sz="950"/>
                    </a:p>
                  </a:txBody>
                  <a:tcPr marT="91425" marB="91425" marR="91425" marL="91425"/>
                </a:tc>
                <a:tc>
                  <a:txBody>
                    <a:bodyPr/>
                    <a:lstStyle/>
                    <a:p>
                      <a:pPr indent="0" lvl="0" marL="0" marR="0" rtl="0" algn="l">
                        <a:lnSpc>
                          <a:spcPct val="100000"/>
                        </a:lnSpc>
                        <a:spcBef>
                          <a:spcPts val="0"/>
                        </a:spcBef>
                        <a:spcAft>
                          <a:spcPts val="0"/>
                        </a:spcAft>
                        <a:buNone/>
                      </a:pPr>
                      <a:r>
                        <a:rPr lang="en" sz="950"/>
                        <a:t>Develop online API for user-uploaded detection</a:t>
                      </a:r>
                      <a:endParaRPr sz="950"/>
                    </a:p>
                  </a:txBody>
                  <a:tcPr marT="91425" marB="91425" marR="91425" marL="91425"/>
                </a:tc>
              </a:tr>
              <a:tr h="876625">
                <a:tc>
                  <a:txBody>
                    <a:bodyPr/>
                    <a:lstStyle/>
                    <a:p>
                      <a:pPr indent="0" lvl="0" marL="0" marR="0" rtl="0" algn="l">
                        <a:lnSpc>
                          <a:spcPct val="100000"/>
                        </a:lnSpc>
                        <a:spcBef>
                          <a:spcPts val="0"/>
                        </a:spcBef>
                        <a:spcAft>
                          <a:spcPts val="0"/>
                        </a:spcAft>
                        <a:buNone/>
                      </a:pPr>
                      <a:r>
                        <a:rPr lang="en" sz="950"/>
                        <a:t>Past and Trends in Cough Sound Acquisition, Automatic Detection and Automatic Classification[13]</a:t>
                      </a:r>
                      <a:endParaRPr sz="95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950"/>
                        <a:t>54% male vs. 46% female test subjects</a:t>
                      </a:r>
                      <a:endParaRPr sz="950"/>
                    </a:p>
                    <a:p>
                      <a:pPr indent="0" lvl="0" marL="0" rtl="0" algn="l">
                        <a:spcBef>
                          <a:spcPts val="0"/>
                        </a:spcBef>
                        <a:spcAft>
                          <a:spcPts val="0"/>
                        </a:spcAft>
                        <a:buClr>
                          <a:schemeClr val="dk1"/>
                        </a:buClr>
                        <a:buSzPts val="1100"/>
                        <a:buFont typeface="Arial"/>
                        <a:buNone/>
                      </a:pPr>
                      <a:r>
                        <a:t/>
                      </a:r>
                      <a:endParaRPr sz="950"/>
                    </a:p>
                    <a:p>
                      <a:pPr indent="0" lvl="0" marL="0" marR="0" rtl="0" algn="l">
                        <a:lnSpc>
                          <a:spcPct val="100000"/>
                        </a:lnSpc>
                        <a:spcBef>
                          <a:spcPts val="0"/>
                        </a:spcBef>
                        <a:spcAft>
                          <a:spcPts val="0"/>
                        </a:spcAft>
                        <a:buNone/>
                      </a:pPr>
                      <a:r>
                        <a:t/>
                      </a:r>
                      <a:endParaRPr sz="95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950">
                          <a:solidFill>
                            <a:schemeClr val="dk1"/>
                          </a:solidFill>
                        </a:rPr>
                        <a:t>84 - 85% accuracy</a:t>
                      </a:r>
                      <a:endParaRPr sz="950">
                        <a:solidFill>
                          <a:schemeClr val="dk1"/>
                        </a:solidFill>
                      </a:endParaRPr>
                    </a:p>
                    <a:p>
                      <a:pPr indent="0" lvl="0" marL="0" rtl="0" algn="l">
                        <a:spcBef>
                          <a:spcPts val="0"/>
                        </a:spcBef>
                        <a:spcAft>
                          <a:spcPts val="0"/>
                        </a:spcAft>
                        <a:buNone/>
                      </a:pPr>
                      <a:r>
                        <a:t/>
                      </a:r>
                      <a:endParaRPr sz="950">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None/>
                      </a:pPr>
                      <a:r>
                        <a:rPr lang="en" sz="950"/>
                        <a:t>Difficulty in covering real-life conditions for the validation </a:t>
                      </a:r>
                      <a:endParaRPr sz="95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950"/>
                        <a:t>Combining big data and deep learning</a:t>
                      </a:r>
                      <a:endParaRPr sz="950"/>
                    </a:p>
                    <a:p>
                      <a:pPr indent="0" lvl="0" marL="0" rtl="0" algn="l">
                        <a:spcBef>
                          <a:spcPts val="0"/>
                        </a:spcBef>
                        <a:spcAft>
                          <a:spcPts val="0"/>
                        </a:spcAft>
                        <a:buClr>
                          <a:schemeClr val="dk1"/>
                        </a:buClr>
                        <a:buSzPts val="1100"/>
                        <a:buFont typeface="Arial"/>
                        <a:buNone/>
                      </a:pPr>
                      <a:r>
                        <a:t/>
                      </a:r>
                      <a:endParaRPr sz="950"/>
                    </a:p>
                    <a:p>
                      <a:pPr indent="0" lvl="0" marL="0" marR="0" rtl="0" algn="l">
                        <a:lnSpc>
                          <a:spcPct val="100000"/>
                        </a:lnSpc>
                        <a:spcBef>
                          <a:spcPts val="0"/>
                        </a:spcBef>
                        <a:spcAft>
                          <a:spcPts val="0"/>
                        </a:spcAft>
                        <a:buNone/>
                      </a:pPr>
                      <a:r>
                        <a:t/>
                      </a:r>
                      <a:endParaRPr sz="950"/>
                    </a:p>
                  </a:txBody>
                  <a:tcPr marT="91425" marB="91425" marR="91425" marL="91425"/>
                </a:tc>
              </a:tr>
            </a:tbl>
          </a:graphicData>
        </a:graphic>
      </p:graphicFrame>
      <p:sp>
        <p:nvSpPr>
          <p:cNvPr id="163" name="Google Shape;163;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69" name="Google Shape;169;p2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70" name="Google Shape;170;p22"/>
          <p:cNvPicPr preferRelativeResize="0"/>
          <p:nvPr/>
        </p:nvPicPr>
        <p:blipFill>
          <a:blip r:embed="rId3">
            <a:alphaModFix/>
          </a:blip>
          <a:stretch>
            <a:fillRect/>
          </a:stretch>
        </p:blipFill>
        <p:spPr>
          <a:xfrm>
            <a:off x="0" y="0"/>
            <a:ext cx="9144000" cy="5143500"/>
          </a:xfrm>
          <a:prstGeom prst="rect">
            <a:avLst/>
          </a:prstGeom>
          <a:noFill/>
          <a:ln>
            <a:noFill/>
          </a:ln>
        </p:spPr>
      </p:pic>
      <p:sp>
        <p:nvSpPr>
          <p:cNvPr id="171" name="Google Shape;171;p22"/>
          <p:cNvSpPr txBox="1"/>
          <p:nvPr>
            <p:ph idx="4294967295" type="title"/>
          </p:nvPr>
        </p:nvSpPr>
        <p:spPr>
          <a:xfrm>
            <a:off x="457200" y="685800"/>
            <a:ext cx="8522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Need for Wearable Technology:</a:t>
            </a:r>
            <a:endParaRPr b="1"/>
          </a:p>
        </p:txBody>
      </p:sp>
      <p:sp>
        <p:nvSpPr>
          <p:cNvPr id="172" name="Google Shape;172;p22"/>
          <p:cNvSpPr/>
          <p:nvPr/>
        </p:nvSpPr>
        <p:spPr>
          <a:xfrm>
            <a:off x="3778950" y="2236300"/>
            <a:ext cx="1159500" cy="1076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Need?</a:t>
            </a:r>
            <a:endParaRPr b="1"/>
          </a:p>
        </p:txBody>
      </p:sp>
      <p:cxnSp>
        <p:nvCxnSpPr>
          <p:cNvPr id="173" name="Google Shape;173;p22"/>
          <p:cNvCxnSpPr>
            <a:stCxn id="172" idx="6"/>
            <a:endCxn id="174" idx="1"/>
          </p:cNvCxnSpPr>
          <p:nvPr/>
        </p:nvCxnSpPr>
        <p:spPr>
          <a:xfrm>
            <a:off x="4938450" y="2774650"/>
            <a:ext cx="652200" cy="0"/>
          </a:xfrm>
          <a:prstGeom prst="straightConnector1">
            <a:avLst/>
          </a:prstGeom>
          <a:noFill/>
          <a:ln cap="flat" cmpd="sng" w="9525">
            <a:solidFill>
              <a:schemeClr val="dk2"/>
            </a:solidFill>
            <a:prstDash val="solid"/>
            <a:round/>
            <a:headEnd len="med" w="med" type="none"/>
            <a:tailEnd len="med" w="med" type="triangle"/>
          </a:ln>
        </p:spPr>
      </p:cxnSp>
      <p:sp>
        <p:nvSpPr>
          <p:cNvPr id="174" name="Google Shape;174;p22"/>
          <p:cNvSpPr txBox="1"/>
          <p:nvPr/>
        </p:nvSpPr>
        <p:spPr>
          <a:xfrm>
            <a:off x="5590650" y="2359000"/>
            <a:ext cx="3241500" cy="8313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The </a:t>
            </a:r>
            <a:r>
              <a:rPr b="1" lang="en">
                <a:solidFill>
                  <a:schemeClr val="dk2"/>
                </a:solidFill>
              </a:rPr>
              <a:t>clinical gold-standard device</a:t>
            </a:r>
            <a:r>
              <a:rPr lang="en">
                <a:solidFill>
                  <a:schemeClr val="dk2"/>
                </a:solidFill>
              </a:rPr>
              <a:t> does </a:t>
            </a:r>
            <a:r>
              <a:rPr b="1" lang="en">
                <a:solidFill>
                  <a:schemeClr val="dk2"/>
                </a:solidFill>
              </a:rPr>
              <a:t>not provide accurate results</a:t>
            </a:r>
            <a:r>
              <a:rPr lang="en">
                <a:solidFill>
                  <a:schemeClr val="dk2"/>
                </a:solidFill>
              </a:rPr>
              <a:t> under real-time conditions</a:t>
            </a:r>
            <a:endParaRPr>
              <a:solidFill>
                <a:schemeClr val="dk2"/>
              </a:solidFill>
            </a:endParaRPr>
          </a:p>
        </p:txBody>
      </p:sp>
      <p:cxnSp>
        <p:nvCxnSpPr>
          <p:cNvPr id="175" name="Google Shape;175;p22"/>
          <p:cNvCxnSpPr>
            <a:stCxn id="172" idx="5"/>
            <a:endCxn id="176" idx="1"/>
          </p:cNvCxnSpPr>
          <p:nvPr/>
        </p:nvCxnSpPr>
        <p:spPr>
          <a:xfrm>
            <a:off x="4768645" y="3155321"/>
            <a:ext cx="822000" cy="719700"/>
          </a:xfrm>
          <a:prstGeom prst="straightConnector1">
            <a:avLst/>
          </a:prstGeom>
          <a:noFill/>
          <a:ln cap="flat" cmpd="sng" w="9525">
            <a:solidFill>
              <a:schemeClr val="dk2"/>
            </a:solidFill>
            <a:prstDash val="solid"/>
            <a:round/>
            <a:headEnd len="med" w="med" type="none"/>
            <a:tailEnd len="med" w="med" type="triangle"/>
          </a:ln>
        </p:spPr>
      </p:cxnSp>
      <p:sp>
        <p:nvSpPr>
          <p:cNvPr id="176" name="Google Shape;176;p22"/>
          <p:cNvSpPr txBox="1"/>
          <p:nvPr/>
        </p:nvSpPr>
        <p:spPr>
          <a:xfrm>
            <a:off x="5590650" y="3459500"/>
            <a:ext cx="3241500" cy="8313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Asthma is prevalent and costly</a:t>
            </a:r>
            <a:r>
              <a:rPr lang="en">
                <a:solidFill>
                  <a:schemeClr val="dk2"/>
                </a:solidFill>
              </a:rPr>
              <a:t>.</a:t>
            </a:r>
            <a:endParaRPr>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In 2009, U.S., Asthma costs - $56 </a:t>
            </a:r>
            <a:r>
              <a:rPr lang="en">
                <a:solidFill>
                  <a:schemeClr val="dk2"/>
                </a:solidFill>
              </a:rPr>
              <a:t>billion</a:t>
            </a:r>
            <a:r>
              <a:rPr lang="en">
                <a:solidFill>
                  <a:schemeClr val="dk2"/>
                </a:solidFill>
              </a:rPr>
              <a:t> per year [15]</a:t>
            </a:r>
            <a:endParaRPr>
              <a:solidFill>
                <a:schemeClr val="dk2"/>
              </a:solidFill>
            </a:endParaRPr>
          </a:p>
        </p:txBody>
      </p:sp>
      <p:sp>
        <p:nvSpPr>
          <p:cNvPr id="177" name="Google Shape;177;p22"/>
          <p:cNvSpPr txBox="1"/>
          <p:nvPr/>
        </p:nvSpPr>
        <p:spPr>
          <a:xfrm>
            <a:off x="5590650" y="1258500"/>
            <a:ext cx="3241500" cy="8313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Increased in patients aged of 18-24</a:t>
            </a:r>
            <a:endParaRPr b="1">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In UNC, over 75% </a:t>
            </a:r>
            <a:r>
              <a:rPr lang="en">
                <a:solidFill>
                  <a:schemeClr val="dk2"/>
                </a:solidFill>
              </a:rPr>
              <a:t>experienced an asthma symptoms [4]</a:t>
            </a:r>
            <a:endParaRPr>
              <a:solidFill>
                <a:schemeClr val="dk2"/>
              </a:solidFill>
            </a:endParaRPr>
          </a:p>
        </p:txBody>
      </p:sp>
      <p:cxnSp>
        <p:nvCxnSpPr>
          <p:cNvPr id="178" name="Google Shape;178;p22"/>
          <p:cNvCxnSpPr>
            <a:stCxn id="172" idx="7"/>
            <a:endCxn id="177" idx="1"/>
          </p:cNvCxnSpPr>
          <p:nvPr/>
        </p:nvCxnSpPr>
        <p:spPr>
          <a:xfrm flipH="1" rot="10800000">
            <a:off x="4768645" y="1674279"/>
            <a:ext cx="822000" cy="719700"/>
          </a:xfrm>
          <a:prstGeom prst="straightConnector1">
            <a:avLst/>
          </a:prstGeom>
          <a:noFill/>
          <a:ln cap="flat" cmpd="sng" w="9525">
            <a:solidFill>
              <a:schemeClr val="dk2"/>
            </a:solidFill>
            <a:prstDash val="solid"/>
            <a:round/>
            <a:headEnd len="med" w="med" type="none"/>
            <a:tailEnd len="med" w="med" type="triangle"/>
          </a:ln>
        </p:spPr>
      </p:cxnSp>
      <p:sp>
        <p:nvSpPr>
          <p:cNvPr id="179" name="Google Shape;179;p22"/>
          <p:cNvSpPr txBox="1"/>
          <p:nvPr/>
        </p:nvSpPr>
        <p:spPr>
          <a:xfrm>
            <a:off x="100675" y="3536900"/>
            <a:ext cx="3384000" cy="1477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Increased in </a:t>
            </a:r>
            <a:r>
              <a:rPr b="1" lang="en">
                <a:solidFill>
                  <a:schemeClr val="dk2"/>
                </a:solidFill>
              </a:rPr>
              <a:t>wearable</a:t>
            </a:r>
            <a:r>
              <a:rPr b="1" lang="en">
                <a:solidFill>
                  <a:schemeClr val="dk2"/>
                </a:solidFill>
              </a:rPr>
              <a:t> devices in youth</a:t>
            </a:r>
            <a:endParaRPr b="1">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In 2016, 26% of </a:t>
            </a:r>
            <a:r>
              <a:rPr lang="en">
                <a:solidFill>
                  <a:schemeClr val="dk2"/>
                </a:solidFill>
              </a:rPr>
              <a:t>individual</a:t>
            </a:r>
            <a:r>
              <a:rPr lang="en">
                <a:solidFill>
                  <a:schemeClr val="dk2"/>
                </a:solidFill>
              </a:rPr>
              <a:t> aged 18-34 use </a:t>
            </a:r>
            <a:r>
              <a:rPr lang="en">
                <a:solidFill>
                  <a:schemeClr val="dk2"/>
                </a:solidFill>
              </a:rPr>
              <a:t>wearable</a:t>
            </a:r>
            <a:r>
              <a:rPr lang="en">
                <a:solidFill>
                  <a:schemeClr val="dk2"/>
                </a:solidFill>
              </a:rPr>
              <a:t> devices</a:t>
            </a:r>
            <a:endParaRPr>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48% used apps to track their health [14]</a:t>
            </a:r>
            <a:endParaRPr>
              <a:solidFill>
                <a:schemeClr val="dk2"/>
              </a:solidFill>
            </a:endParaRPr>
          </a:p>
        </p:txBody>
      </p:sp>
      <p:cxnSp>
        <p:nvCxnSpPr>
          <p:cNvPr id="180" name="Google Shape;180;p22"/>
          <p:cNvCxnSpPr>
            <a:stCxn id="172" idx="3"/>
            <a:endCxn id="179" idx="3"/>
          </p:cNvCxnSpPr>
          <p:nvPr/>
        </p:nvCxnSpPr>
        <p:spPr>
          <a:xfrm flipH="1">
            <a:off x="3484655" y="3155321"/>
            <a:ext cx="464100" cy="1120200"/>
          </a:xfrm>
          <a:prstGeom prst="straightConnector1">
            <a:avLst/>
          </a:prstGeom>
          <a:noFill/>
          <a:ln cap="flat" cmpd="sng" w="9525">
            <a:solidFill>
              <a:schemeClr val="dk2"/>
            </a:solidFill>
            <a:prstDash val="solid"/>
            <a:round/>
            <a:headEnd len="med" w="med" type="none"/>
            <a:tailEnd len="med" w="med" type="triangle"/>
          </a:ln>
        </p:spPr>
      </p:cxnSp>
      <p:sp>
        <p:nvSpPr>
          <p:cNvPr id="181" name="Google Shape;181;p22"/>
          <p:cNvSpPr txBox="1"/>
          <p:nvPr/>
        </p:nvSpPr>
        <p:spPr>
          <a:xfrm>
            <a:off x="100675" y="1258500"/>
            <a:ext cx="3384000" cy="1693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Research</a:t>
            </a:r>
            <a:r>
              <a:rPr b="1" lang="en">
                <a:solidFill>
                  <a:schemeClr val="dk2"/>
                </a:solidFill>
              </a:rPr>
              <a:t> </a:t>
            </a:r>
            <a:r>
              <a:rPr b="1" lang="en">
                <a:solidFill>
                  <a:schemeClr val="dk2"/>
                </a:solidFill>
              </a:rPr>
              <a:t>scope</a:t>
            </a:r>
            <a:r>
              <a:rPr b="1" lang="en">
                <a:solidFill>
                  <a:schemeClr val="dk2"/>
                </a:solidFill>
              </a:rPr>
              <a:t> and data creation</a:t>
            </a:r>
            <a:endParaRPr b="1">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There is an increase in research projects on respiratory devices, creating a need for hardware to collect data, including support from the NCSU research community</a:t>
            </a:r>
            <a:endParaRPr>
              <a:solidFill>
                <a:schemeClr val="dk2"/>
              </a:solidFill>
            </a:endParaRPr>
          </a:p>
        </p:txBody>
      </p:sp>
      <p:cxnSp>
        <p:nvCxnSpPr>
          <p:cNvPr id="182" name="Google Shape;182;p22"/>
          <p:cNvCxnSpPr>
            <a:stCxn id="172" idx="1"/>
            <a:endCxn id="181" idx="3"/>
          </p:cNvCxnSpPr>
          <p:nvPr/>
        </p:nvCxnSpPr>
        <p:spPr>
          <a:xfrm rot="10800000">
            <a:off x="3484655" y="2105079"/>
            <a:ext cx="464100" cy="288900"/>
          </a:xfrm>
          <a:prstGeom prst="straightConnector1">
            <a:avLst/>
          </a:prstGeom>
          <a:noFill/>
          <a:ln cap="flat" cmpd="sng" w="9525">
            <a:solidFill>
              <a:schemeClr val="dk2"/>
            </a:solidFill>
            <a:prstDash val="solid"/>
            <a:round/>
            <a:headEnd len="med" w="med" type="none"/>
            <a:tailEnd len="med" w="med" type="triangle"/>
          </a:ln>
        </p:spPr>
      </p:cxnSp>
      <p:sp>
        <p:nvSpPr>
          <p:cNvPr id="183" name="Google Shape;183;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id="188" name="Google Shape;188;p23"/>
          <p:cNvPicPr preferRelativeResize="0"/>
          <p:nvPr/>
        </p:nvPicPr>
        <p:blipFill>
          <a:blip r:embed="rId3">
            <a:alphaModFix/>
          </a:blip>
          <a:stretch>
            <a:fillRect/>
          </a:stretch>
        </p:blipFill>
        <p:spPr>
          <a:xfrm>
            <a:off x="0" y="-12"/>
            <a:ext cx="9144000" cy="5143500"/>
          </a:xfrm>
          <a:prstGeom prst="rect">
            <a:avLst/>
          </a:prstGeom>
          <a:noFill/>
          <a:ln>
            <a:noFill/>
          </a:ln>
        </p:spPr>
      </p:pic>
      <p:sp>
        <p:nvSpPr>
          <p:cNvPr id="189" name="Google Shape;189;p23"/>
          <p:cNvSpPr txBox="1"/>
          <p:nvPr>
            <p:ph idx="4294967295" type="title"/>
          </p:nvPr>
        </p:nvSpPr>
        <p:spPr>
          <a:xfrm>
            <a:off x="182525" y="553125"/>
            <a:ext cx="8522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Project Overview</a:t>
            </a:r>
            <a:endParaRPr b="1"/>
          </a:p>
        </p:txBody>
      </p:sp>
      <p:pic>
        <p:nvPicPr>
          <p:cNvPr id="190" name="Google Shape;190;p23"/>
          <p:cNvPicPr preferRelativeResize="0"/>
          <p:nvPr/>
        </p:nvPicPr>
        <p:blipFill rotWithShape="1">
          <a:blip r:embed="rId4">
            <a:alphaModFix/>
          </a:blip>
          <a:srcRect b="0" l="0" r="0" t="0"/>
          <a:stretch/>
        </p:blipFill>
        <p:spPr>
          <a:xfrm>
            <a:off x="182525" y="2114399"/>
            <a:ext cx="2119151" cy="1224176"/>
          </a:xfrm>
          <a:prstGeom prst="rect">
            <a:avLst/>
          </a:prstGeom>
          <a:noFill/>
          <a:ln>
            <a:noFill/>
          </a:ln>
        </p:spPr>
      </p:pic>
      <p:sp>
        <p:nvSpPr>
          <p:cNvPr id="191" name="Google Shape;191;p23"/>
          <p:cNvSpPr/>
          <p:nvPr/>
        </p:nvSpPr>
        <p:spPr>
          <a:xfrm>
            <a:off x="2718550" y="1389249"/>
            <a:ext cx="1393800" cy="1029900"/>
          </a:xfrm>
          <a:prstGeom prst="rect">
            <a:avLst/>
          </a:prstGeom>
          <a:solidFill>
            <a:srgbClr val="FFFFFF"/>
          </a:solidFill>
          <a:ln cap="flat" cmpd="sng" w="28575">
            <a:solidFill>
              <a:srgbClr val="6D6D6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2" name="Google Shape;192;p23"/>
          <p:cNvPicPr preferRelativeResize="0"/>
          <p:nvPr/>
        </p:nvPicPr>
        <p:blipFill rotWithShape="1">
          <a:blip r:embed="rId5">
            <a:alphaModFix/>
          </a:blip>
          <a:srcRect b="0" l="0" r="0" t="0"/>
          <a:stretch/>
        </p:blipFill>
        <p:spPr>
          <a:xfrm>
            <a:off x="2780500" y="1788975"/>
            <a:ext cx="1277750" cy="506300"/>
          </a:xfrm>
          <a:prstGeom prst="rect">
            <a:avLst/>
          </a:prstGeom>
          <a:noFill/>
          <a:ln>
            <a:noFill/>
          </a:ln>
        </p:spPr>
      </p:pic>
      <p:sp>
        <p:nvSpPr>
          <p:cNvPr id="193" name="Google Shape;193;p23"/>
          <p:cNvSpPr txBox="1"/>
          <p:nvPr/>
        </p:nvSpPr>
        <p:spPr>
          <a:xfrm>
            <a:off x="2815700" y="1479375"/>
            <a:ext cx="1196100" cy="309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Arial"/>
                <a:ea typeface="Arial"/>
                <a:cs typeface="Arial"/>
                <a:sym typeface="Arial"/>
              </a:rPr>
              <a:t>Cough </a:t>
            </a:r>
            <a:r>
              <a:rPr b="1" lang="en" sz="1000"/>
              <a:t>+</a:t>
            </a:r>
            <a:r>
              <a:rPr b="1" i="0" lang="en" sz="1000" u="none" cap="none" strike="noStrike">
                <a:solidFill>
                  <a:srgbClr val="000000"/>
                </a:solidFill>
                <a:latin typeface="Arial"/>
                <a:ea typeface="Arial"/>
                <a:cs typeface="Arial"/>
                <a:sym typeface="Arial"/>
              </a:rPr>
              <a:t> </a:t>
            </a:r>
            <a:r>
              <a:rPr b="1" lang="en" sz="1000"/>
              <a:t>Other</a:t>
            </a:r>
            <a:r>
              <a:rPr b="1" i="0" lang="en" sz="1000" u="none" cap="none" strike="noStrike">
                <a:solidFill>
                  <a:srgbClr val="000000"/>
                </a:solidFill>
                <a:latin typeface="Arial"/>
                <a:ea typeface="Arial"/>
                <a:cs typeface="Arial"/>
                <a:sym typeface="Arial"/>
              </a:rPr>
              <a:t> Audio</a:t>
            </a:r>
            <a:endParaRPr b="1" i="0" sz="1000" u="none" cap="none" strike="noStrike">
              <a:solidFill>
                <a:srgbClr val="000000"/>
              </a:solidFill>
              <a:latin typeface="Arial"/>
              <a:ea typeface="Arial"/>
              <a:cs typeface="Arial"/>
              <a:sym typeface="Arial"/>
            </a:endParaRPr>
          </a:p>
        </p:txBody>
      </p:sp>
      <p:sp>
        <p:nvSpPr>
          <p:cNvPr id="194" name="Google Shape;194;p23"/>
          <p:cNvSpPr/>
          <p:nvPr/>
        </p:nvSpPr>
        <p:spPr>
          <a:xfrm>
            <a:off x="2716850" y="2492599"/>
            <a:ext cx="1393800" cy="1029900"/>
          </a:xfrm>
          <a:prstGeom prst="rect">
            <a:avLst/>
          </a:prstGeom>
          <a:solidFill>
            <a:srgbClr val="FFFFFF"/>
          </a:solidFill>
          <a:ln cap="flat" cmpd="sng" w="28575">
            <a:solidFill>
              <a:srgbClr val="6D6D6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23"/>
          <p:cNvSpPr/>
          <p:nvPr/>
        </p:nvSpPr>
        <p:spPr>
          <a:xfrm>
            <a:off x="2716850" y="3595949"/>
            <a:ext cx="1393800" cy="1029900"/>
          </a:xfrm>
          <a:prstGeom prst="rect">
            <a:avLst/>
          </a:prstGeom>
          <a:solidFill>
            <a:srgbClr val="FFFFFF"/>
          </a:solidFill>
          <a:ln cap="flat" cmpd="sng" w="28575">
            <a:solidFill>
              <a:srgbClr val="6D6D6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6" name="Google Shape;196;p23"/>
          <p:cNvPicPr preferRelativeResize="0"/>
          <p:nvPr/>
        </p:nvPicPr>
        <p:blipFill rotWithShape="1">
          <a:blip r:embed="rId6">
            <a:alphaModFix/>
          </a:blip>
          <a:srcRect b="23964" l="14232" r="7655" t="5944"/>
          <a:stretch/>
        </p:blipFill>
        <p:spPr>
          <a:xfrm>
            <a:off x="2953825" y="2821875"/>
            <a:ext cx="931100" cy="630125"/>
          </a:xfrm>
          <a:prstGeom prst="rect">
            <a:avLst/>
          </a:prstGeom>
          <a:solidFill>
            <a:srgbClr val="FFFFFF"/>
          </a:solidFill>
          <a:ln cap="flat" cmpd="sng" w="28575">
            <a:solidFill>
              <a:schemeClr val="lt1"/>
            </a:solidFill>
            <a:prstDash val="solid"/>
            <a:round/>
            <a:headEnd len="sm" w="sm" type="none"/>
            <a:tailEnd len="sm" w="sm" type="none"/>
          </a:ln>
        </p:spPr>
      </p:pic>
      <p:sp>
        <p:nvSpPr>
          <p:cNvPr id="197" name="Google Shape;197;p23"/>
          <p:cNvSpPr txBox="1"/>
          <p:nvPr/>
        </p:nvSpPr>
        <p:spPr>
          <a:xfrm>
            <a:off x="2586900" y="2537675"/>
            <a:ext cx="1610700" cy="309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lang="en" sz="1000"/>
              <a:t>Cough freq</a:t>
            </a:r>
            <a:r>
              <a:rPr b="1" i="0" lang="en" sz="1000" u="none" cap="none" strike="noStrike">
                <a:solidFill>
                  <a:srgbClr val="000000"/>
                </a:solidFill>
                <a:latin typeface="Arial"/>
                <a:ea typeface="Arial"/>
                <a:cs typeface="Arial"/>
                <a:sym typeface="Arial"/>
              </a:rPr>
              <a:t> </a:t>
            </a:r>
            <a:r>
              <a:rPr b="1" lang="en" sz="1000"/>
              <a:t>+</a:t>
            </a:r>
            <a:r>
              <a:rPr b="1" i="0" lang="en" sz="1000" u="none" cap="none" strike="noStrike">
                <a:solidFill>
                  <a:srgbClr val="000000"/>
                </a:solidFill>
                <a:latin typeface="Arial"/>
                <a:ea typeface="Arial"/>
                <a:cs typeface="Arial"/>
                <a:sym typeface="Arial"/>
              </a:rPr>
              <a:t> </a:t>
            </a:r>
            <a:r>
              <a:rPr b="1" lang="en" sz="1000"/>
              <a:t>Other</a:t>
            </a:r>
            <a:r>
              <a:rPr b="1" i="0" lang="en" sz="1000" u="none" cap="none" strike="noStrike">
                <a:solidFill>
                  <a:srgbClr val="000000"/>
                </a:solidFill>
                <a:latin typeface="Arial"/>
                <a:ea typeface="Arial"/>
                <a:cs typeface="Arial"/>
                <a:sym typeface="Arial"/>
              </a:rPr>
              <a:t> </a:t>
            </a:r>
            <a:r>
              <a:rPr b="1" lang="en" sz="1000"/>
              <a:t>freq.</a:t>
            </a:r>
            <a:endParaRPr b="1" i="0" sz="1000" u="none" cap="none" strike="noStrike">
              <a:solidFill>
                <a:srgbClr val="000000"/>
              </a:solidFill>
              <a:latin typeface="Arial"/>
              <a:ea typeface="Arial"/>
              <a:cs typeface="Arial"/>
              <a:sym typeface="Arial"/>
            </a:endParaRPr>
          </a:p>
        </p:txBody>
      </p:sp>
      <p:pic>
        <p:nvPicPr>
          <p:cNvPr id="198" name="Google Shape;198;p23"/>
          <p:cNvPicPr preferRelativeResize="0"/>
          <p:nvPr/>
        </p:nvPicPr>
        <p:blipFill rotWithShape="1">
          <a:blip r:embed="rId7">
            <a:alphaModFix/>
          </a:blip>
          <a:srcRect b="20215" l="2811" r="3187" t="12444"/>
          <a:stretch/>
        </p:blipFill>
        <p:spPr>
          <a:xfrm>
            <a:off x="2945262" y="3854727"/>
            <a:ext cx="948225" cy="679300"/>
          </a:xfrm>
          <a:prstGeom prst="rect">
            <a:avLst/>
          </a:prstGeom>
          <a:solidFill>
            <a:srgbClr val="FFFFFF"/>
          </a:solidFill>
          <a:ln cap="flat" cmpd="sng" w="28575">
            <a:solidFill>
              <a:schemeClr val="lt1"/>
            </a:solidFill>
            <a:prstDash val="solid"/>
            <a:round/>
            <a:headEnd len="sm" w="sm" type="none"/>
            <a:tailEnd len="sm" w="sm" type="none"/>
          </a:ln>
        </p:spPr>
      </p:pic>
      <p:sp>
        <p:nvSpPr>
          <p:cNvPr id="199" name="Google Shape;199;p23"/>
          <p:cNvSpPr txBox="1"/>
          <p:nvPr/>
        </p:nvSpPr>
        <p:spPr>
          <a:xfrm>
            <a:off x="2586900" y="3595950"/>
            <a:ext cx="1610700" cy="309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lang="en" sz="1000"/>
              <a:t>	IMU Data</a:t>
            </a:r>
            <a:endParaRPr b="1" i="0" sz="1000" u="none" cap="none" strike="noStrike">
              <a:solidFill>
                <a:srgbClr val="000000"/>
              </a:solidFill>
              <a:latin typeface="Arial"/>
              <a:ea typeface="Arial"/>
              <a:cs typeface="Arial"/>
              <a:sym typeface="Arial"/>
            </a:endParaRPr>
          </a:p>
        </p:txBody>
      </p:sp>
      <p:cxnSp>
        <p:nvCxnSpPr>
          <p:cNvPr id="200" name="Google Shape;200;p23"/>
          <p:cNvCxnSpPr/>
          <p:nvPr/>
        </p:nvCxnSpPr>
        <p:spPr>
          <a:xfrm flipH="1" rot="10800000">
            <a:off x="2624875" y="1289400"/>
            <a:ext cx="3841500" cy="26400"/>
          </a:xfrm>
          <a:prstGeom prst="straightConnector1">
            <a:avLst/>
          </a:prstGeom>
          <a:noFill/>
          <a:ln cap="flat" cmpd="sng" w="9525">
            <a:solidFill>
              <a:schemeClr val="dk2"/>
            </a:solidFill>
            <a:prstDash val="solid"/>
            <a:round/>
            <a:headEnd len="med" w="med" type="none"/>
            <a:tailEnd len="med" w="med" type="none"/>
          </a:ln>
        </p:spPr>
      </p:cxnSp>
      <p:cxnSp>
        <p:nvCxnSpPr>
          <p:cNvPr id="201" name="Google Shape;201;p23"/>
          <p:cNvCxnSpPr/>
          <p:nvPr/>
        </p:nvCxnSpPr>
        <p:spPr>
          <a:xfrm flipH="1" rot="10800000">
            <a:off x="2625625" y="4676175"/>
            <a:ext cx="3830400" cy="21300"/>
          </a:xfrm>
          <a:prstGeom prst="straightConnector1">
            <a:avLst/>
          </a:prstGeom>
          <a:noFill/>
          <a:ln cap="flat" cmpd="sng" w="9525">
            <a:solidFill>
              <a:schemeClr val="dk2"/>
            </a:solidFill>
            <a:prstDash val="solid"/>
            <a:round/>
            <a:headEnd len="med" w="med" type="none"/>
            <a:tailEnd len="med" w="med" type="none"/>
          </a:ln>
        </p:spPr>
      </p:cxnSp>
      <p:cxnSp>
        <p:nvCxnSpPr>
          <p:cNvPr id="202" name="Google Shape;202;p23"/>
          <p:cNvCxnSpPr/>
          <p:nvPr/>
        </p:nvCxnSpPr>
        <p:spPr>
          <a:xfrm flipH="1">
            <a:off x="2624500" y="1315500"/>
            <a:ext cx="6000" cy="3381900"/>
          </a:xfrm>
          <a:prstGeom prst="straightConnector1">
            <a:avLst/>
          </a:prstGeom>
          <a:noFill/>
          <a:ln cap="flat" cmpd="sng" w="9525">
            <a:solidFill>
              <a:schemeClr val="dk2"/>
            </a:solidFill>
            <a:prstDash val="solid"/>
            <a:round/>
            <a:headEnd len="med" w="med" type="none"/>
            <a:tailEnd len="med" w="med" type="none"/>
          </a:ln>
        </p:spPr>
      </p:cxnSp>
      <p:cxnSp>
        <p:nvCxnSpPr>
          <p:cNvPr id="203" name="Google Shape;203;p23"/>
          <p:cNvCxnSpPr/>
          <p:nvPr/>
        </p:nvCxnSpPr>
        <p:spPr>
          <a:xfrm flipH="1">
            <a:off x="6457125" y="1288575"/>
            <a:ext cx="6000" cy="3398700"/>
          </a:xfrm>
          <a:prstGeom prst="straightConnector1">
            <a:avLst/>
          </a:prstGeom>
          <a:noFill/>
          <a:ln cap="flat" cmpd="sng" w="9525">
            <a:solidFill>
              <a:schemeClr val="dk2"/>
            </a:solidFill>
            <a:prstDash val="solid"/>
            <a:round/>
            <a:headEnd len="med" w="med" type="none"/>
            <a:tailEnd len="med" w="med" type="none"/>
          </a:ln>
        </p:spPr>
      </p:cxnSp>
      <p:pic>
        <p:nvPicPr>
          <p:cNvPr id="204" name="Google Shape;204;p23"/>
          <p:cNvPicPr preferRelativeResize="0"/>
          <p:nvPr/>
        </p:nvPicPr>
        <p:blipFill rotWithShape="1">
          <a:blip r:embed="rId8">
            <a:alphaModFix/>
          </a:blip>
          <a:srcRect b="0" l="0" r="0" t="5042"/>
          <a:stretch/>
        </p:blipFill>
        <p:spPr>
          <a:xfrm>
            <a:off x="5099123" y="2419159"/>
            <a:ext cx="948200" cy="987191"/>
          </a:xfrm>
          <a:prstGeom prst="rect">
            <a:avLst/>
          </a:prstGeom>
          <a:noFill/>
          <a:ln>
            <a:noFill/>
          </a:ln>
        </p:spPr>
      </p:pic>
      <p:cxnSp>
        <p:nvCxnSpPr>
          <p:cNvPr id="205" name="Google Shape;205;p23"/>
          <p:cNvCxnSpPr>
            <a:stCxn id="191" idx="3"/>
          </p:cNvCxnSpPr>
          <p:nvPr/>
        </p:nvCxnSpPr>
        <p:spPr>
          <a:xfrm flipH="1" rot="10800000">
            <a:off x="4112350" y="1900299"/>
            <a:ext cx="1362900" cy="3900"/>
          </a:xfrm>
          <a:prstGeom prst="straightConnector1">
            <a:avLst/>
          </a:prstGeom>
          <a:noFill/>
          <a:ln cap="flat" cmpd="sng" w="9525">
            <a:solidFill>
              <a:schemeClr val="dk2"/>
            </a:solidFill>
            <a:prstDash val="solid"/>
            <a:round/>
            <a:headEnd len="med" w="med" type="none"/>
            <a:tailEnd len="med" w="med" type="none"/>
          </a:ln>
        </p:spPr>
      </p:cxnSp>
      <p:cxnSp>
        <p:nvCxnSpPr>
          <p:cNvPr id="206" name="Google Shape;206;p23"/>
          <p:cNvCxnSpPr/>
          <p:nvPr/>
        </p:nvCxnSpPr>
        <p:spPr>
          <a:xfrm>
            <a:off x="5478700" y="1900350"/>
            <a:ext cx="0" cy="514500"/>
          </a:xfrm>
          <a:prstGeom prst="straightConnector1">
            <a:avLst/>
          </a:prstGeom>
          <a:noFill/>
          <a:ln cap="flat" cmpd="sng" w="9525">
            <a:solidFill>
              <a:schemeClr val="dk2"/>
            </a:solidFill>
            <a:prstDash val="solid"/>
            <a:round/>
            <a:headEnd len="med" w="med" type="none"/>
            <a:tailEnd len="med" w="med" type="triangle"/>
          </a:ln>
        </p:spPr>
      </p:cxnSp>
      <p:cxnSp>
        <p:nvCxnSpPr>
          <p:cNvPr id="207" name="Google Shape;207;p23"/>
          <p:cNvCxnSpPr>
            <a:stCxn id="194" idx="3"/>
          </p:cNvCxnSpPr>
          <p:nvPr/>
        </p:nvCxnSpPr>
        <p:spPr>
          <a:xfrm>
            <a:off x="4110650" y="3007549"/>
            <a:ext cx="1023000" cy="900"/>
          </a:xfrm>
          <a:prstGeom prst="straightConnector1">
            <a:avLst/>
          </a:prstGeom>
          <a:noFill/>
          <a:ln cap="flat" cmpd="sng" w="9525">
            <a:solidFill>
              <a:schemeClr val="dk2"/>
            </a:solidFill>
            <a:prstDash val="solid"/>
            <a:round/>
            <a:headEnd len="med" w="med" type="none"/>
            <a:tailEnd len="med" w="med" type="triangle"/>
          </a:ln>
        </p:spPr>
      </p:cxnSp>
      <p:cxnSp>
        <p:nvCxnSpPr>
          <p:cNvPr id="208" name="Google Shape;208;p23"/>
          <p:cNvCxnSpPr>
            <a:stCxn id="195" idx="3"/>
          </p:cNvCxnSpPr>
          <p:nvPr/>
        </p:nvCxnSpPr>
        <p:spPr>
          <a:xfrm flipH="1" rot="10800000">
            <a:off x="4110650" y="4102199"/>
            <a:ext cx="1472400" cy="8700"/>
          </a:xfrm>
          <a:prstGeom prst="straightConnector1">
            <a:avLst/>
          </a:prstGeom>
          <a:noFill/>
          <a:ln cap="flat" cmpd="sng" w="9525">
            <a:solidFill>
              <a:schemeClr val="dk2"/>
            </a:solidFill>
            <a:prstDash val="solid"/>
            <a:round/>
            <a:headEnd len="med" w="med" type="none"/>
            <a:tailEnd len="med" w="med" type="none"/>
          </a:ln>
        </p:spPr>
      </p:cxnSp>
      <p:cxnSp>
        <p:nvCxnSpPr>
          <p:cNvPr id="209" name="Google Shape;209;p23"/>
          <p:cNvCxnSpPr>
            <a:endCxn id="204" idx="2"/>
          </p:cNvCxnSpPr>
          <p:nvPr/>
        </p:nvCxnSpPr>
        <p:spPr>
          <a:xfrm rot="10800000">
            <a:off x="5573223" y="3406349"/>
            <a:ext cx="5400" cy="688500"/>
          </a:xfrm>
          <a:prstGeom prst="straightConnector1">
            <a:avLst/>
          </a:prstGeom>
          <a:noFill/>
          <a:ln cap="flat" cmpd="sng" w="9525">
            <a:solidFill>
              <a:schemeClr val="dk2"/>
            </a:solidFill>
            <a:prstDash val="solid"/>
            <a:round/>
            <a:headEnd len="med" w="med" type="none"/>
            <a:tailEnd len="med" w="med" type="triangle"/>
          </a:ln>
        </p:spPr>
      </p:cxnSp>
      <p:cxnSp>
        <p:nvCxnSpPr>
          <p:cNvPr id="210" name="Google Shape;210;p23"/>
          <p:cNvCxnSpPr>
            <a:endCxn id="204" idx="3"/>
          </p:cNvCxnSpPr>
          <p:nvPr/>
        </p:nvCxnSpPr>
        <p:spPr>
          <a:xfrm>
            <a:off x="6047322" y="2912754"/>
            <a:ext cx="0" cy="0"/>
          </a:xfrm>
          <a:prstGeom prst="straightConnector1">
            <a:avLst/>
          </a:prstGeom>
          <a:noFill/>
          <a:ln cap="flat" cmpd="sng" w="9525">
            <a:solidFill>
              <a:schemeClr val="dk2"/>
            </a:solidFill>
            <a:prstDash val="solid"/>
            <a:round/>
            <a:headEnd len="med" w="med" type="none"/>
            <a:tailEnd len="med" w="med" type="none"/>
          </a:ln>
        </p:spPr>
      </p:cxnSp>
      <p:cxnSp>
        <p:nvCxnSpPr>
          <p:cNvPr id="211" name="Google Shape;211;p23"/>
          <p:cNvCxnSpPr/>
          <p:nvPr/>
        </p:nvCxnSpPr>
        <p:spPr>
          <a:xfrm flipH="1" rot="10800000">
            <a:off x="1441150" y="1354125"/>
            <a:ext cx="1124100" cy="1038300"/>
          </a:xfrm>
          <a:prstGeom prst="straightConnector1">
            <a:avLst/>
          </a:prstGeom>
          <a:noFill/>
          <a:ln cap="flat" cmpd="sng" w="9525">
            <a:solidFill>
              <a:schemeClr val="dk2"/>
            </a:solidFill>
            <a:prstDash val="dash"/>
            <a:round/>
            <a:headEnd len="med" w="med" type="none"/>
            <a:tailEnd len="med" w="med" type="none"/>
          </a:ln>
        </p:spPr>
      </p:cxnSp>
      <p:cxnSp>
        <p:nvCxnSpPr>
          <p:cNvPr id="212" name="Google Shape;212;p23"/>
          <p:cNvCxnSpPr/>
          <p:nvPr/>
        </p:nvCxnSpPr>
        <p:spPr>
          <a:xfrm>
            <a:off x="1461725" y="2853275"/>
            <a:ext cx="1110600" cy="1799700"/>
          </a:xfrm>
          <a:prstGeom prst="straightConnector1">
            <a:avLst/>
          </a:prstGeom>
          <a:noFill/>
          <a:ln cap="flat" cmpd="sng" w="9525">
            <a:solidFill>
              <a:schemeClr val="dk2"/>
            </a:solidFill>
            <a:prstDash val="dash"/>
            <a:round/>
            <a:headEnd len="med" w="med" type="none"/>
            <a:tailEnd len="med" w="med" type="none"/>
          </a:ln>
        </p:spPr>
      </p:cxnSp>
      <p:sp>
        <p:nvSpPr>
          <p:cNvPr id="213" name="Google Shape;213;p23"/>
          <p:cNvSpPr/>
          <p:nvPr/>
        </p:nvSpPr>
        <p:spPr>
          <a:xfrm>
            <a:off x="5653725" y="1289388"/>
            <a:ext cx="809400" cy="50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Storage</a:t>
            </a:r>
            <a:endParaRPr/>
          </a:p>
        </p:txBody>
      </p:sp>
      <p:cxnSp>
        <p:nvCxnSpPr>
          <p:cNvPr id="214" name="Google Shape;214;p23"/>
          <p:cNvCxnSpPr/>
          <p:nvPr/>
        </p:nvCxnSpPr>
        <p:spPr>
          <a:xfrm>
            <a:off x="7079125" y="3003413"/>
            <a:ext cx="0" cy="0"/>
          </a:xfrm>
          <a:prstGeom prst="straightConnector1">
            <a:avLst/>
          </a:prstGeom>
          <a:noFill/>
          <a:ln cap="flat" cmpd="sng" w="9525">
            <a:solidFill>
              <a:schemeClr val="dk2"/>
            </a:solidFill>
            <a:prstDash val="solid"/>
            <a:round/>
            <a:headEnd len="med" w="med" type="none"/>
            <a:tailEnd len="med" w="med" type="none"/>
          </a:ln>
        </p:spPr>
      </p:cxnSp>
      <p:sp>
        <p:nvSpPr>
          <p:cNvPr id="215" name="Google Shape;215;p23"/>
          <p:cNvSpPr txBox="1"/>
          <p:nvPr/>
        </p:nvSpPr>
        <p:spPr>
          <a:xfrm>
            <a:off x="3974188" y="989050"/>
            <a:ext cx="107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Cough Bot</a:t>
            </a:r>
            <a:endParaRPr>
              <a:solidFill>
                <a:schemeClr val="dk2"/>
              </a:solidFill>
            </a:endParaRPr>
          </a:p>
        </p:txBody>
      </p:sp>
      <p:sp>
        <p:nvSpPr>
          <p:cNvPr id="216" name="Google Shape;216;p23"/>
          <p:cNvSpPr/>
          <p:nvPr/>
        </p:nvSpPr>
        <p:spPr>
          <a:xfrm>
            <a:off x="5653725" y="4180863"/>
            <a:ext cx="809400" cy="50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Battery</a:t>
            </a:r>
            <a:endParaRPr/>
          </a:p>
        </p:txBody>
      </p:sp>
      <p:sp>
        <p:nvSpPr>
          <p:cNvPr id="217" name="Google Shape;217;p23"/>
          <p:cNvSpPr txBox="1"/>
          <p:nvPr/>
        </p:nvSpPr>
        <p:spPr>
          <a:xfrm>
            <a:off x="6920548" y="989050"/>
            <a:ext cx="2000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Base </a:t>
            </a:r>
            <a:r>
              <a:rPr lang="en">
                <a:solidFill>
                  <a:schemeClr val="dk2"/>
                </a:solidFill>
              </a:rPr>
              <a:t>station</a:t>
            </a:r>
            <a:endParaRPr>
              <a:solidFill>
                <a:schemeClr val="dk2"/>
              </a:solidFill>
            </a:endParaRPr>
          </a:p>
        </p:txBody>
      </p:sp>
      <p:sp>
        <p:nvSpPr>
          <p:cNvPr id="218" name="Google Shape;218;p23"/>
          <p:cNvSpPr/>
          <p:nvPr/>
        </p:nvSpPr>
        <p:spPr>
          <a:xfrm>
            <a:off x="6944763" y="1299600"/>
            <a:ext cx="1975500" cy="1716000"/>
          </a:xfrm>
          <a:prstGeom prst="rect">
            <a:avLst/>
          </a:prstGeom>
          <a:solidFill>
            <a:schemeClr val="lt1"/>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chemeClr val="dk2"/>
              </a:highlight>
            </a:endParaRPr>
          </a:p>
        </p:txBody>
      </p:sp>
      <p:sp>
        <p:nvSpPr>
          <p:cNvPr id="219" name="Google Shape;219;p23"/>
          <p:cNvSpPr/>
          <p:nvPr/>
        </p:nvSpPr>
        <p:spPr>
          <a:xfrm>
            <a:off x="6967450" y="2501100"/>
            <a:ext cx="790800" cy="492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Battery</a:t>
            </a:r>
            <a:endParaRPr sz="1000"/>
          </a:p>
          <a:p>
            <a:pPr indent="0" lvl="0" marL="0" rtl="0" algn="ctr">
              <a:spcBef>
                <a:spcPts val="0"/>
              </a:spcBef>
              <a:spcAft>
                <a:spcPts val="0"/>
              </a:spcAft>
              <a:buNone/>
            </a:pPr>
            <a:r>
              <a:rPr lang="en" sz="1000"/>
              <a:t>Charging Station</a:t>
            </a:r>
            <a:endParaRPr sz="1000"/>
          </a:p>
        </p:txBody>
      </p:sp>
      <p:sp>
        <p:nvSpPr>
          <p:cNvPr id="220" name="Google Shape;220;p23"/>
          <p:cNvSpPr/>
          <p:nvPr/>
        </p:nvSpPr>
        <p:spPr>
          <a:xfrm>
            <a:off x="6967450" y="1318350"/>
            <a:ext cx="790800" cy="492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Database</a:t>
            </a:r>
            <a:endParaRPr sz="1000"/>
          </a:p>
        </p:txBody>
      </p:sp>
      <p:sp>
        <p:nvSpPr>
          <p:cNvPr id="221" name="Google Shape;221;p23"/>
          <p:cNvSpPr/>
          <p:nvPr/>
        </p:nvSpPr>
        <p:spPr>
          <a:xfrm>
            <a:off x="8078000" y="1900350"/>
            <a:ext cx="824400" cy="51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Cough Inferences</a:t>
            </a:r>
            <a:endParaRPr sz="1000"/>
          </a:p>
          <a:p>
            <a:pPr indent="0" lvl="0" marL="0" rtl="0" algn="ctr">
              <a:spcBef>
                <a:spcPts val="0"/>
              </a:spcBef>
              <a:spcAft>
                <a:spcPts val="0"/>
              </a:spcAft>
              <a:buNone/>
            </a:pPr>
            <a:r>
              <a:rPr lang="en" sz="1000"/>
              <a:t>algorithms </a:t>
            </a:r>
            <a:endParaRPr sz="1000"/>
          </a:p>
        </p:txBody>
      </p:sp>
      <p:cxnSp>
        <p:nvCxnSpPr>
          <p:cNvPr id="222" name="Google Shape;222;p23"/>
          <p:cNvCxnSpPr/>
          <p:nvPr/>
        </p:nvCxnSpPr>
        <p:spPr>
          <a:xfrm>
            <a:off x="6047322" y="2912754"/>
            <a:ext cx="116700" cy="600"/>
          </a:xfrm>
          <a:prstGeom prst="straightConnector1">
            <a:avLst/>
          </a:prstGeom>
          <a:noFill/>
          <a:ln cap="flat" cmpd="sng" w="9525">
            <a:solidFill>
              <a:schemeClr val="dk2"/>
            </a:solidFill>
            <a:prstDash val="dash"/>
            <a:round/>
            <a:headEnd len="med" w="med" type="none"/>
            <a:tailEnd len="med" w="med" type="none"/>
          </a:ln>
        </p:spPr>
      </p:cxnSp>
      <p:cxnSp>
        <p:nvCxnSpPr>
          <p:cNvPr id="223" name="Google Shape;223;p23"/>
          <p:cNvCxnSpPr/>
          <p:nvPr/>
        </p:nvCxnSpPr>
        <p:spPr>
          <a:xfrm rot="10800000">
            <a:off x="6162075" y="1811575"/>
            <a:ext cx="600" cy="1101300"/>
          </a:xfrm>
          <a:prstGeom prst="straightConnector1">
            <a:avLst/>
          </a:prstGeom>
          <a:noFill/>
          <a:ln cap="flat" cmpd="sng" w="9525">
            <a:solidFill>
              <a:schemeClr val="dk2"/>
            </a:solidFill>
            <a:prstDash val="dash"/>
            <a:round/>
            <a:headEnd len="med" w="med" type="none"/>
            <a:tailEnd len="med" w="med" type="triangle"/>
          </a:ln>
        </p:spPr>
      </p:cxnSp>
      <p:cxnSp>
        <p:nvCxnSpPr>
          <p:cNvPr id="224" name="Google Shape;224;p23"/>
          <p:cNvCxnSpPr/>
          <p:nvPr/>
        </p:nvCxnSpPr>
        <p:spPr>
          <a:xfrm flipH="1">
            <a:off x="6320450" y="1807050"/>
            <a:ext cx="300" cy="156300"/>
          </a:xfrm>
          <a:prstGeom prst="straightConnector1">
            <a:avLst/>
          </a:prstGeom>
          <a:noFill/>
          <a:ln cap="flat" cmpd="sng" w="9525">
            <a:solidFill>
              <a:schemeClr val="dk2"/>
            </a:solidFill>
            <a:prstDash val="dash"/>
            <a:round/>
            <a:headEnd len="med" w="med" type="none"/>
            <a:tailEnd len="med" w="med" type="none"/>
          </a:ln>
        </p:spPr>
      </p:cxnSp>
      <p:cxnSp>
        <p:nvCxnSpPr>
          <p:cNvPr id="225" name="Google Shape;225;p23"/>
          <p:cNvCxnSpPr/>
          <p:nvPr/>
        </p:nvCxnSpPr>
        <p:spPr>
          <a:xfrm>
            <a:off x="6322825" y="1961550"/>
            <a:ext cx="135000" cy="600"/>
          </a:xfrm>
          <a:prstGeom prst="straightConnector1">
            <a:avLst/>
          </a:prstGeom>
          <a:noFill/>
          <a:ln cap="flat" cmpd="sng" w="9525">
            <a:solidFill>
              <a:schemeClr val="dk2"/>
            </a:solidFill>
            <a:prstDash val="dash"/>
            <a:round/>
            <a:headEnd len="med" w="med" type="none"/>
            <a:tailEnd len="med" w="med" type="triangle"/>
          </a:ln>
        </p:spPr>
      </p:cxnSp>
      <p:cxnSp>
        <p:nvCxnSpPr>
          <p:cNvPr id="226" name="Google Shape;226;p23"/>
          <p:cNvCxnSpPr/>
          <p:nvPr/>
        </p:nvCxnSpPr>
        <p:spPr>
          <a:xfrm flipH="1" rot="10800000">
            <a:off x="6328838" y="2354863"/>
            <a:ext cx="6000" cy="1837800"/>
          </a:xfrm>
          <a:prstGeom prst="straightConnector1">
            <a:avLst/>
          </a:prstGeom>
          <a:noFill/>
          <a:ln cap="flat" cmpd="sng" w="9525">
            <a:solidFill>
              <a:schemeClr val="dk2"/>
            </a:solidFill>
            <a:prstDash val="dash"/>
            <a:round/>
            <a:headEnd len="med" w="med" type="triangle"/>
            <a:tailEnd len="med" w="med" type="none"/>
          </a:ln>
        </p:spPr>
      </p:cxnSp>
      <p:cxnSp>
        <p:nvCxnSpPr>
          <p:cNvPr id="227" name="Google Shape;227;p23"/>
          <p:cNvCxnSpPr/>
          <p:nvPr/>
        </p:nvCxnSpPr>
        <p:spPr>
          <a:xfrm flipH="1" rot="10800000">
            <a:off x="6336500" y="2356250"/>
            <a:ext cx="120300" cy="600"/>
          </a:xfrm>
          <a:prstGeom prst="straightConnector1">
            <a:avLst/>
          </a:prstGeom>
          <a:noFill/>
          <a:ln cap="flat" cmpd="sng" w="9525">
            <a:solidFill>
              <a:schemeClr val="dk2"/>
            </a:solidFill>
            <a:prstDash val="dash"/>
            <a:round/>
            <a:headEnd len="med" w="med" type="none"/>
            <a:tailEnd len="med" w="med" type="none"/>
          </a:ln>
        </p:spPr>
      </p:cxnSp>
      <p:cxnSp>
        <p:nvCxnSpPr>
          <p:cNvPr id="228" name="Google Shape;228;p23"/>
          <p:cNvCxnSpPr/>
          <p:nvPr/>
        </p:nvCxnSpPr>
        <p:spPr>
          <a:xfrm>
            <a:off x="6952825" y="1961650"/>
            <a:ext cx="401700" cy="0"/>
          </a:xfrm>
          <a:prstGeom prst="straightConnector1">
            <a:avLst/>
          </a:prstGeom>
          <a:noFill/>
          <a:ln cap="flat" cmpd="sng" w="9525">
            <a:solidFill>
              <a:schemeClr val="dk2"/>
            </a:solidFill>
            <a:prstDash val="dash"/>
            <a:round/>
            <a:headEnd len="med" w="med" type="none"/>
            <a:tailEnd len="med" w="med" type="none"/>
          </a:ln>
        </p:spPr>
      </p:cxnSp>
      <p:cxnSp>
        <p:nvCxnSpPr>
          <p:cNvPr id="229" name="Google Shape;229;p23"/>
          <p:cNvCxnSpPr>
            <a:endCxn id="220" idx="2"/>
          </p:cNvCxnSpPr>
          <p:nvPr/>
        </p:nvCxnSpPr>
        <p:spPr>
          <a:xfrm flipH="1" rot="10800000">
            <a:off x="7361650" y="1810950"/>
            <a:ext cx="1200" cy="168000"/>
          </a:xfrm>
          <a:prstGeom prst="straightConnector1">
            <a:avLst/>
          </a:prstGeom>
          <a:noFill/>
          <a:ln cap="flat" cmpd="sng" w="9525">
            <a:solidFill>
              <a:schemeClr val="dk2"/>
            </a:solidFill>
            <a:prstDash val="dash"/>
            <a:round/>
            <a:headEnd len="med" w="med" type="none"/>
            <a:tailEnd len="med" w="med" type="triangle"/>
          </a:ln>
        </p:spPr>
      </p:cxnSp>
      <p:sp>
        <p:nvSpPr>
          <p:cNvPr id="230" name="Google Shape;230;p23"/>
          <p:cNvSpPr/>
          <p:nvPr/>
        </p:nvSpPr>
        <p:spPr>
          <a:xfrm>
            <a:off x="6500813" y="1928400"/>
            <a:ext cx="411600" cy="66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1" name="Google Shape;231;p23"/>
          <p:cNvSpPr/>
          <p:nvPr/>
        </p:nvSpPr>
        <p:spPr>
          <a:xfrm>
            <a:off x="6488475" y="2323825"/>
            <a:ext cx="414000" cy="768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32" name="Google Shape;232;p23"/>
          <p:cNvCxnSpPr>
            <a:stCxn id="219" idx="0"/>
          </p:cNvCxnSpPr>
          <p:nvPr/>
        </p:nvCxnSpPr>
        <p:spPr>
          <a:xfrm rot="10800000">
            <a:off x="7362850" y="2361000"/>
            <a:ext cx="0" cy="140100"/>
          </a:xfrm>
          <a:prstGeom prst="straightConnector1">
            <a:avLst/>
          </a:prstGeom>
          <a:noFill/>
          <a:ln cap="flat" cmpd="sng" w="9525">
            <a:solidFill>
              <a:schemeClr val="dk2"/>
            </a:solidFill>
            <a:prstDash val="dash"/>
            <a:round/>
            <a:headEnd len="med" w="med" type="none"/>
            <a:tailEnd len="med" w="med" type="none"/>
          </a:ln>
        </p:spPr>
      </p:cxnSp>
      <p:cxnSp>
        <p:nvCxnSpPr>
          <p:cNvPr id="233" name="Google Shape;233;p23"/>
          <p:cNvCxnSpPr/>
          <p:nvPr/>
        </p:nvCxnSpPr>
        <p:spPr>
          <a:xfrm rot="10800000">
            <a:off x="6948750" y="2356775"/>
            <a:ext cx="404100" cy="0"/>
          </a:xfrm>
          <a:prstGeom prst="straightConnector1">
            <a:avLst/>
          </a:prstGeom>
          <a:noFill/>
          <a:ln cap="flat" cmpd="sng" w="9525">
            <a:solidFill>
              <a:schemeClr val="dk2"/>
            </a:solidFill>
            <a:prstDash val="dash"/>
            <a:round/>
            <a:headEnd len="med" w="med" type="none"/>
            <a:tailEnd len="med" w="med" type="triangle"/>
          </a:ln>
        </p:spPr>
      </p:cxnSp>
      <p:cxnSp>
        <p:nvCxnSpPr>
          <p:cNvPr id="234" name="Google Shape;234;p23"/>
          <p:cNvCxnSpPr>
            <a:stCxn id="220" idx="3"/>
            <a:endCxn id="235" idx="1"/>
          </p:cNvCxnSpPr>
          <p:nvPr/>
        </p:nvCxnSpPr>
        <p:spPr>
          <a:xfrm>
            <a:off x="7758250" y="1564650"/>
            <a:ext cx="319800" cy="4200"/>
          </a:xfrm>
          <a:prstGeom prst="straightConnector1">
            <a:avLst/>
          </a:prstGeom>
          <a:noFill/>
          <a:ln cap="flat" cmpd="sng" w="9525">
            <a:solidFill>
              <a:schemeClr val="dk2"/>
            </a:solidFill>
            <a:prstDash val="dash"/>
            <a:round/>
            <a:headEnd len="med" w="med" type="none"/>
            <a:tailEnd len="med" w="med" type="triangle"/>
          </a:ln>
        </p:spPr>
      </p:cxnSp>
      <p:sp>
        <p:nvSpPr>
          <p:cNvPr id="235" name="Google Shape;235;p23"/>
          <p:cNvSpPr/>
          <p:nvPr/>
        </p:nvSpPr>
        <p:spPr>
          <a:xfrm>
            <a:off x="8078000" y="1322400"/>
            <a:ext cx="824400" cy="492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Signal</a:t>
            </a:r>
            <a:r>
              <a:rPr lang="en" sz="1000"/>
              <a:t> Processing </a:t>
            </a:r>
            <a:r>
              <a:rPr lang="en" sz="1000"/>
              <a:t> </a:t>
            </a:r>
            <a:endParaRPr sz="1000"/>
          </a:p>
        </p:txBody>
      </p:sp>
      <p:pic>
        <p:nvPicPr>
          <p:cNvPr id="236" name="Google Shape;236;p23"/>
          <p:cNvPicPr preferRelativeResize="0"/>
          <p:nvPr/>
        </p:nvPicPr>
        <p:blipFill>
          <a:blip r:embed="rId9">
            <a:alphaModFix/>
          </a:blip>
          <a:stretch>
            <a:fillRect/>
          </a:stretch>
        </p:blipFill>
        <p:spPr>
          <a:xfrm>
            <a:off x="7080655" y="3712796"/>
            <a:ext cx="401700" cy="747332"/>
          </a:xfrm>
          <a:prstGeom prst="rect">
            <a:avLst/>
          </a:prstGeom>
          <a:noFill/>
          <a:ln>
            <a:noFill/>
          </a:ln>
        </p:spPr>
      </p:pic>
      <p:pic>
        <p:nvPicPr>
          <p:cNvPr id="237" name="Google Shape;237;p23"/>
          <p:cNvPicPr preferRelativeResize="0"/>
          <p:nvPr/>
        </p:nvPicPr>
        <p:blipFill>
          <a:blip r:embed="rId10">
            <a:alphaModFix/>
          </a:blip>
          <a:stretch>
            <a:fillRect/>
          </a:stretch>
        </p:blipFill>
        <p:spPr>
          <a:xfrm>
            <a:off x="8235675" y="3771250"/>
            <a:ext cx="616449" cy="679301"/>
          </a:xfrm>
          <a:prstGeom prst="rect">
            <a:avLst/>
          </a:prstGeom>
          <a:noFill/>
          <a:ln>
            <a:noFill/>
          </a:ln>
        </p:spPr>
      </p:pic>
      <p:sp>
        <p:nvSpPr>
          <p:cNvPr id="238" name="Google Shape;238;p23"/>
          <p:cNvSpPr/>
          <p:nvPr/>
        </p:nvSpPr>
        <p:spPr>
          <a:xfrm>
            <a:off x="8078000" y="2497050"/>
            <a:ext cx="824400" cy="502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t>Cough </a:t>
            </a:r>
            <a:r>
              <a:rPr lang="en" sz="900"/>
              <a:t>Characteristics</a:t>
            </a:r>
            <a:endParaRPr sz="900"/>
          </a:p>
        </p:txBody>
      </p:sp>
      <p:cxnSp>
        <p:nvCxnSpPr>
          <p:cNvPr id="239" name="Google Shape;239;p23"/>
          <p:cNvCxnSpPr>
            <a:stCxn id="235" idx="2"/>
            <a:endCxn id="221" idx="0"/>
          </p:cNvCxnSpPr>
          <p:nvPr/>
        </p:nvCxnSpPr>
        <p:spPr>
          <a:xfrm>
            <a:off x="8490200" y="1815000"/>
            <a:ext cx="0" cy="85500"/>
          </a:xfrm>
          <a:prstGeom prst="straightConnector1">
            <a:avLst/>
          </a:prstGeom>
          <a:noFill/>
          <a:ln cap="flat" cmpd="sng" w="9525">
            <a:solidFill>
              <a:schemeClr val="dk2"/>
            </a:solidFill>
            <a:prstDash val="solid"/>
            <a:round/>
            <a:headEnd len="med" w="med" type="none"/>
            <a:tailEnd len="med" w="med" type="none"/>
          </a:ln>
        </p:spPr>
      </p:cxnSp>
      <p:cxnSp>
        <p:nvCxnSpPr>
          <p:cNvPr id="240" name="Google Shape;240;p23"/>
          <p:cNvCxnSpPr>
            <a:stCxn id="221" idx="2"/>
            <a:endCxn id="238" idx="0"/>
          </p:cNvCxnSpPr>
          <p:nvPr/>
        </p:nvCxnSpPr>
        <p:spPr>
          <a:xfrm>
            <a:off x="8490200" y="2414850"/>
            <a:ext cx="0" cy="82200"/>
          </a:xfrm>
          <a:prstGeom prst="straightConnector1">
            <a:avLst/>
          </a:prstGeom>
          <a:noFill/>
          <a:ln cap="flat" cmpd="sng" w="9525">
            <a:solidFill>
              <a:schemeClr val="dk2"/>
            </a:solidFill>
            <a:prstDash val="solid"/>
            <a:round/>
            <a:headEnd len="med" w="med" type="none"/>
            <a:tailEnd len="med" w="med" type="none"/>
          </a:ln>
        </p:spPr>
      </p:cxnSp>
      <p:cxnSp>
        <p:nvCxnSpPr>
          <p:cNvPr id="241" name="Google Shape;241;p23"/>
          <p:cNvCxnSpPr/>
          <p:nvPr/>
        </p:nvCxnSpPr>
        <p:spPr>
          <a:xfrm flipH="1">
            <a:off x="7356325" y="3108675"/>
            <a:ext cx="564600" cy="502500"/>
          </a:xfrm>
          <a:prstGeom prst="straightConnector1">
            <a:avLst/>
          </a:prstGeom>
          <a:noFill/>
          <a:ln cap="flat" cmpd="sng" w="9525">
            <a:solidFill>
              <a:schemeClr val="dk2"/>
            </a:solidFill>
            <a:prstDash val="solid"/>
            <a:round/>
            <a:headEnd len="med" w="med" type="none"/>
            <a:tailEnd len="med" w="med" type="triangle"/>
          </a:ln>
        </p:spPr>
      </p:cxnSp>
      <p:cxnSp>
        <p:nvCxnSpPr>
          <p:cNvPr id="242" name="Google Shape;242;p23"/>
          <p:cNvCxnSpPr/>
          <p:nvPr/>
        </p:nvCxnSpPr>
        <p:spPr>
          <a:xfrm>
            <a:off x="8005475" y="3113650"/>
            <a:ext cx="495000" cy="549600"/>
          </a:xfrm>
          <a:prstGeom prst="straightConnector1">
            <a:avLst/>
          </a:prstGeom>
          <a:noFill/>
          <a:ln cap="flat" cmpd="sng" w="9525">
            <a:solidFill>
              <a:schemeClr val="dk2"/>
            </a:solidFill>
            <a:prstDash val="solid"/>
            <a:round/>
            <a:headEnd len="med" w="med" type="none"/>
            <a:tailEnd len="med" w="med" type="triangle"/>
          </a:ln>
        </p:spPr>
      </p:cxnSp>
      <p:sp>
        <p:nvSpPr>
          <p:cNvPr id="243" name="Google Shape;243;p23"/>
          <p:cNvSpPr txBox="1"/>
          <p:nvPr/>
        </p:nvSpPr>
        <p:spPr>
          <a:xfrm>
            <a:off x="6842050" y="4534025"/>
            <a:ext cx="1023000" cy="492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chemeClr val="dk2"/>
                </a:solidFill>
              </a:rPr>
              <a:t>Notification about the Cough intensity, </a:t>
            </a:r>
            <a:r>
              <a:rPr lang="en" sz="800">
                <a:solidFill>
                  <a:schemeClr val="dk2"/>
                </a:solidFill>
              </a:rPr>
              <a:t>Frequency, Duration etc.</a:t>
            </a:r>
            <a:endParaRPr sz="800">
              <a:solidFill>
                <a:schemeClr val="dk2"/>
              </a:solidFill>
            </a:endParaRPr>
          </a:p>
        </p:txBody>
      </p:sp>
      <p:sp>
        <p:nvSpPr>
          <p:cNvPr id="244" name="Google Shape;244;p23"/>
          <p:cNvSpPr txBox="1"/>
          <p:nvPr/>
        </p:nvSpPr>
        <p:spPr>
          <a:xfrm>
            <a:off x="8032400" y="4558550"/>
            <a:ext cx="1023000" cy="492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solidFill>
                  <a:schemeClr val="dk2"/>
                </a:solidFill>
              </a:rPr>
              <a:t>Raw sensor data and information about cough inferences are sent to the cloud.  </a:t>
            </a:r>
            <a:endParaRPr sz="800">
              <a:solidFill>
                <a:schemeClr val="dk2"/>
              </a:solidFill>
            </a:endParaRPr>
          </a:p>
        </p:txBody>
      </p:sp>
      <p:sp>
        <p:nvSpPr>
          <p:cNvPr id="245" name="Google Shape;245;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id="250" name="Google Shape;250;p24"/>
          <p:cNvPicPr preferRelativeResize="0"/>
          <p:nvPr/>
        </p:nvPicPr>
        <p:blipFill>
          <a:blip r:embed="rId3">
            <a:alphaModFix/>
          </a:blip>
          <a:stretch>
            <a:fillRect/>
          </a:stretch>
        </p:blipFill>
        <p:spPr>
          <a:xfrm>
            <a:off x="0" y="0"/>
            <a:ext cx="9144000" cy="5143500"/>
          </a:xfrm>
          <a:prstGeom prst="rect">
            <a:avLst/>
          </a:prstGeom>
          <a:noFill/>
          <a:ln>
            <a:noFill/>
          </a:ln>
        </p:spPr>
      </p:pic>
      <p:sp>
        <p:nvSpPr>
          <p:cNvPr id="251" name="Google Shape;251;p24"/>
          <p:cNvSpPr txBox="1"/>
          <p:nvPr>
            <p:ph idx="1" type="body"/>
          </p:nvPr>
        </p:nvSpPr>
        <p:spPr>
          <a:xfrm>
            <a:off x="457950" y="1401400"/>
            <a:ext cx="8520600" cy="3416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SzPts val="1200"/>
              <a:buAutoNum type="arabicPeriod"/>
            </a:pPr>
            <a:r>
              <a:rPr b="1" lang="en" sz="1200"/>
              <a:t>Research Focus:</a:t>
            </a:r>
            <a:r>
              <a:rPr lang="en" sz="1200"/>
              <a:t> Study early symptoms of asthma and analyze ongoing research and existing devices to better understand the problem statement.</a:t>
            </a:r>
            <a:endParaRPr sz="1200"/>
          </a:p>
          <a:p>
            <a:pPr indent="-304800" lvl="0" marL="457200" rtl="0" algn="l">
              <a:spcBef>
                <a:spcPts val="0"/>
              </a:spcBef>
              <a:spcAft>
                <a:spcPts val="0"/>
              </a:spcAft>
              <a:buSzPts val="1200"/>
              <a:buAutoNum type="arabicPeriod"/>
            </a:pPr>
            <a:r>
              <a:rPr b="1" lang="en" sz="1200"/>
              <a:t>Sensor Integration</a:t>
            </a:r>
            <a:r>
              <a:rPr lang="en" sz="1200"/>
              <a:t>: Plan to integrate sensors such as an external microphone, contact microphone, IMU, and other relevant sensors to monitor and analyze cough characteristics. Employ sensor fusion techniques to enhance accuracy in detecting cough parameters.</a:t>
            </a:r>
            <a:endParaRPr sz="1200"/>
          </a:p>
          <a:p>
            <a:pPr indent="-304800" lvl="0" marL="457200" rtl="0" algn="l">
              <a:spcBef>
                <a:spcPts val="0"/>
              </a:spcBef>
              <a:spcAft>
                <a:spcPts val="0"/>
              </a:spcAft>
              <a:buSzPts val="1200"/>
              <a:buAutoNum type="arabicPeriod"/>
            </a:pPr>
            <a:r>
              <a:rPr b="1" lang="en" sz="1200"/>
              <a:t>Cough Bot Design and base </a:t>
            </a:r>
            <a:r>
              <a:rPr b="1" lang="en" sz="1200"/>
              <a:t>station</a:t>
            </a:r>
            <a:r>
              <a:rPr lang="en" sz="1200"/>
              <a:t>: Develop a "Cough Bot" for hardware-based data collection, with a base station serving as an inference platform. This station will analyze cough characteristics, notify the user, and send data to a database if required.</a:t>
            </a:r>
            <a:endParaRPr sz="1200"/>
          </a:p>
          <a:p>
            <a:pPr indent="-304800" lvl="0" marL="457200" rtl="0" algn="l">
              <a:spcBef>
                <a:spcPts val="0"/>
              </a:spcBef>
              <a:spcAft>
                <a:spcPts val="0"/>
              </a:spcAft>
              <a:buSzPts val="1200"/>
              <a:buAutoNum type="arabicPeriod"/>
            </a:pPr>
            <a:r>
              <a:rPr b="1" lang="en" sz="1200"/>
              <a:t>Techniques for Detection</a:t>
            </a:r>
            <a:r>
              <a:rPr lang="en" sz="1200"/>
              <a:t>: Utilize techniques such as sensor fusion, signal processing, and machine learning (if necessary) for accurate cough detection.</a:t>
            </a:r>
            <a:endParaRPr sz="1200"/>
          </a:p>
          <a:p>
            <a:pPr indent="-304800" lvl="0" marL="457200" rtl="0" algn="l">
              <a:spcBef>
                <a:spcPts val="0"/>
              </a:spcBef>
              <a:spcAft>
                <a:spcPts val="0"/>
              </a:spcAft>
              <a:buSzPts val="1200"/>
              <a:buAutoNum type="arabicPeriod"/>
            </a:pPr>
            <a:r>
              <a:rPr b="1" lang="en" sz="1200"/>
              <a:t>Modular Packaging</a:t>
            </a:r>
            <a:r>
              <a:rPr lang="en" sz="1200"/>
              <a:t>: Design modular, user-friendly packaging using 3D printing technology for ease of use.</a:t>
            </a:r>
            <a:endParaRPr sz="1200"/>
          </a:p>
          <a:p>
            <a:pPr indent="0" lvl="0" marL="0" rtl="0" algn="l">
              <a:spcBef>
                <a:spcPts val="1200"/>
              </a:spcBef>
              <a:spcAft>
                <a:spcPts val="1200"/>
              </a:spcAft>
              <a:buNone/>
            </a:pPr>
            <a:br>
              <a:rPr lang="en" sz="1200"/>
            </a:br>
            <a:endParaRPr sz="1200"/>
          </a:p>
        </p:txBody>
      </p:sp>
      <p:sp>
        <p:nvSpPr>
          <p:cNvPr id="252" name="Google Shape;252;p24"/>
          <p:cNvSpPr txBox="1"/>
          <p:nvPr>
            <p:ph type="title"/>
          </p:nvPr>
        </p:nvSpPr>
        <p:spPr>
          <a:xfrm>
            <a:off x="457200" y="685800"/>
            <a:ext cx="8522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Conclusion</a:t>
            </a:r>
            <a:endParaRPr b="1"/>
          </a:p>
        </p:txBody>
      </p:sp>
      <p:sp>
        <p:nvSpPr>
          <p:cNvPr id="253" name="Google Shape;253;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259" name="Google Shape;259;p2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260" name="Google Shape;260;p25"/>
          <p:cNvPicPr preferRelativeResize="0"/>
          <p:nvPr/>
        </p:nvPicPr>
        <p:blipFill>
          <a:blip r:embed="rId3">
            <a:alphaModFix/>
          </a:blip>
          <a:stretch>
            <a:fillRect/>
          </a:stretch>
        </p:blipFill>
        <p:spPr>
          <a:xfrm>
            <a:off x="0" y="0"/>
            <a:ext cx="9144000" cy="5143500"/>
          </a:xfrm>
          <a:prstGeom prst="rect">
            <a:avLst/>
          </a:prstGeom>
          <a:noFill/>
          <a:ln>
            <a:noFill/>
          </a:ln>
        </p:spPr>
      </p:pic>
      <p:sp>
        <p:nvSpPr>
          <p:cNvPr id="261" name="Google Shape;261;p25"/>
          <p:cNvSpPr txBox="1"/>
          <p:nvPr>
            <p:ph idx="4294967295" type="title"/>
          </p:nvPr>
        </p:nvSpPr>
        <p:spPr>
          <a:xfrm>
            <a:off x="457200" y="685800"/>
            <a:ext cx="8522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References</a:t>
            </a:r>
            <a:endParaRPr b="1"/>
          </a:p>
        </p:txBody>
      </p:sp>
      <p:sp>
        <p:nvSpPr>
          <p:cNvPr id="262" name="Google Shape;262;p25"/>
          <p:cNvSpPr txBox="1"/>
          <p:nvPr>
            <p:ph idx="4294967295" type="body"/>
          </p:nvPr>
        </p:nvSpPr>
        <p:spPr>
          <a:xfrm>
            <a:off x="457200" y="1219200"/>
            <a:ext cx="8520600" cy="3884700"/>
          </a:xfrm>
          <a:prstGeom prst="rect">
            <a:avLst/>
          </a:prstGeom>
        </p:spPr>
        <p:txBody>
          <a:bodyPr anchorCtr="0" anchor="t" bIns="91425" lIns="91425" spcFirstLastPara="1" rIns="91425" wrap="square" tIns="91425">
            <a:noAutofit/>
          </a:bodyPr>
          <a:lstStyle/>
          <a:p>
            <a:pPr indent="-276225" lvl="0" marL="457200" rtl="0" algn="l">
              <a:spcBef>
                <a:spcPts val="0"/>
              </a:spcBef>
              <a:spcAft>
                <a:spcPts val="0"/>
              </a:spcAft>
              <a:buSzPts val="750"/>
              <a:buAutoNum type="arabicPeriod"/>
            </a:pPr>
            <a:r>
              <a:rPr lang="en" sz="750"/>
              <a:t>Website</a:t>
            </a:r>
            <a:r>
              <a:rPr lang="en" sz="750"/>
              <a:t> link - </a:t>
            </a:r>
            <a:r>
              <a:rPr lang="en" sz="750" u="sng">
                <a:solidFill>
                  <a:schemeClr val="hlink"/>
                </a:solidFill>
                <a:hlinkClick r:id="rId4"/>
              </a:rPr>
              <a:t>https://aspioneer.com/asthma-and-copd-monitoring-an-ai-powered-wearable-might-keep-track-on-respiratory-health/</a:t>
            </a:r>
            <a:endParaRPr sz="750"/>
          </a:p>
          <a:p>
            <a:pPr indent="-276225" lvl="0" marL="457200" rtl="0" algn="l">
              <a:spcBef>
                <a:spcPts val="0"/>
              </a:spcBef>
              <a:spcAft>
                <a:spcPts val="0"/>
              </a:spcAft>
              <a:buSzPts val="750"/>
              <a:buAutoNum type="arabicPeriod"/>
            </a:pPr>
            <a:r>
              <a:rPr lang="en" sz="750"/>
              <a:t>K. Bahadori, M. M. Doyle-Waters, C. Marra, L. Lynd, K. Alasaly, J. Swiston, “Economic burden of asthma: a systematic review,” BMC Pulmonary Medicine, vol. 9, no. 1, 2009.</a:t>
            </a:r>
            <a:endParaRPr sz="750"/>
          </a:p>
          <a:p>
            <a:pPr indent="-276225" lvl="0" marL="457200" rtl="0" algn="l">
              <a:spcBef>
                <a:spcPts val="0"/>
              </a:spcBef>
              <a:spcAft>
                <a:spcPts val="0"/>
              </a:spcAft>
              <a:buSzPts val="750"/>
              <a:buAutoNum type="arabicPeriod"/>
            </a:pPr>
            <a:r>
              <a:rPr lang="en" sz="750"/>
              <a:t>“Consumer Technology Association - Health and Fitness Technology Division.” December 2018.</a:t>
            </a:r>
            <a:endParaRPr sz="750"/>
          </a:p>
          <a:p>
            <a:pPr indent="-276225" lvl="0" marL="457200" rtl="0" algn="l">
              <a:spcBef>
                <a:spcPts val="0"/>
              </a:spcBef>
              <a:spcAft>
                <a:spcPts val="0"/>
              </a:spcAft>
              <a:buSzPts val="750"/>
              <a:buAutoNum type="arabicPeriod"/>
            </a:pPr>
            <a:r>
              <a:rPr lang="en" sz="750"/>
              <a:t>A. J. Stoppelenburg, V. Salimi, M. Hennus, M. Plantinga, R. H. I. . Veld, J. Walk, J. Meerding, F. Coenjaerts, L. Bont, M. Boes, and et al., “Local il-17a potentiates early neutrophil recruitment to the respiratory tract during severe rsv infection,” PLoS ONE, vol. 8, no. 10, 2013</a:t>
            </a:r>
            <a:endParaRPr sz="750"/>
          </a:p>
          <a:p>
            <a:pPr indent="-276225" lvl="0" marL="457200" rtl="0" algn="l">
              <a:spcBef>
                <a:spcPts val="0"/>
              </a:spcBef>
              <a:spcAft>
                <a:spcPts val="0"/>
              </a:spcAft>
              <a:buSzPts val="750"/>
              <a:buAutoNum type="arabicPeriod"/>
            </a:pPr>
            <a:r>
              <a:rPr lang="en" sz="750"/>
              <a:t>Website</a:t>
            </a:r>
            <a:r>
              <a:rPr lang="en" sz="750"/>
              <a:t> link - </a:t>
            </a:r>
            <a:r>
              <a:rPr lang="en" sz="750" u="sng">
                <a:solidFill>
                  <a:schemeClr val="hlink"/>
                </a:solidFill>
                <a:hlinkClick r:id="rId5"/>
              </a:rPr>
              <a:t>https://www.cmihealth.com/collections/spirometer?srsltid=AfmBOooSlkMxxCK1ldUAFh3xJoZDZ6hkn2-oO_QPOQSaE5wUlFOVB4E1</a:t>
            </a:r>
            <a:endParaRPr sz="750"/>
          </a:p>
          <a:p>
            <a:pPr indent="-276225" lvl="0" marL="457200" rtl="0" algn="l">
              <a:spcBef>
                <a:spcPts val="0"/>
              </a:spcBef>
              <a:spcAft>
                <a:spcPts val="0"/>
              </a:spcAft>
              <a:buSzPts val="750"/>
              <a:buAutoNum type="arabicPeriod"/>
            </a:pPr>
            <a:r>
              <a:rPr lang="en" sz="750"/>
              <a:t>Website link - </a:t>
            </a:r>
            <a:r>
              <a:rPr lang="en" sz="750" u="sng">
                <a:solidFill>
                  <a:schemeClr val="hlink"/>
                </a:solidFill>
                <a:hlinkClick r:id="rId6"/>
              </a:rPr>
              <a:t>https://www.lung.org/lung-health-diseases/lung-disease-lookup/asthma/treatment/devices/peak-flow</a:t>
            </a:r>
            <a:endParaRPr sz="750"/>
          </a:p>
          <a:p>
            <a:pPr indent="-276225" lvl="0" marL="457200" rtl="0" algn="l">
              <a:spcBef>
                <a:spcPts val="0"/>
              </a:spcBef>
              <a:spcAft>
                <a:spcPts val="0"/>
              </a:spcAft>
              <a:buSzPts val="750"/>
              <a:buAutoNum type="arabicPeriod"/>
            </a:pPr>
            <a:r>
              <a:rPr lang="en" sz="750"/>
              <a:t>Website</a:t>
            </a:r>
            <a:r>
              <a:rPr lang="en" sz="750"/>
              <a:t> link - </a:t>
            </a:r>
            <a:r>
              <a:rPr lang="en" sz="750" u="sng">
                <a:solidFill>
                  <a:schemeClr val="hlink"/>
                </a:solidFill>
                <a:hlinkClick r:id="rId7"/>
              </a:rPr>
              <a:t>https://www.medicalexpo.com/medical-manufacturer/feno-breathing-monitor-59187.html</a:t>
            </a:r>
            <a:endParaRPr sz="750"/>
          </a:p>
          <a:p>
            <a:pPr indent="-276225" lvl="0" marL="457200" rtl="0" algn="l">
              <a:spcBef>
                <a:spcPts val="0"/>
              </a:spcBef>
              <a:spcAft>
                <a:spcPts val="0"/>
              </a:spcAft>
              <a:buSzPts val="750"/>
              <a:buAutoNum type="arabicPeriod"/>
            </a:pPr>
            <a:r>
              <a:rPr lang="en" sz="750"/>
              <a:t>Website link - https://sensirion.com/products/applications/medical/smart-inhaler</a:t>
            </a:r>
            <a:endParaRPr sz="750"/>
          </a:p>
          <a:p>
            <a:pPr indent="-276225" lvl="0" marL="457200" rtl="0" algn="l">
              <a:spcBef>
                <a:spcPts val="0"/>
              </a:spcBef>
              <a:spcAft>
                <a:spcPts val="0"/>
              </a:spcAft>
              <a:buSzPts val="750"/>
              <a:buAutoNum type="arabicPeriod"/>
            </a:pPr>
            <a:r>
              <a:rPr lang="en" sz="750"/>
              <a:t>“Asthma,” January 2017</a:t>
            </a:r>
            <a:endParaRPr sz="750"/>
          </a:p>
          <a:p>
            <a:pPr indent="-276225" lvl="0" marL="457200" rtl="0" algn="l">
              <a:spcBef>
                <a:spcPts val="0"/>
              </a:spcBef>
              <a:spcAft>
                <a:spcPts val="0"/>
              </a:spcAft>
              <a:buSzPts val="750"/>
              <a:buAutoNum type="arabicPeriod"/>
            </a:pPr>
            <a:r>
              <a:rPr lang="en" sz="750"/>
              <a:t>J. Dieffenderfer, H. Goodell, S. Mills, M. McKnight, S. Yao, F. Lin, E. Beppler, B. Bent,B. Lee, V. Misra, Y. Zhu, O. Oralkan, J. Strohmaier, J. Muth, and A. Peden, David amd Bozkurt, “Low-power wearable systems for continuous monitoring of environment and health for chronic respiratory disease,” IEEE journal of biomedical and health informatics, vol. 20, no. 5, pp. 1251–1264, 2016</a:t>
            </a:r>
            <a:endParaRPr sz="750"/>
          </a:p>
          <a:p>
            <a:pPr indent="-276225" lvl="0" marL="457200" rtl="0" algn="l">
              <a:spcBef>
                <a:spcPts val="0"/>
              </a:spcBef>
              <a:spcAft>
                <a:spcPts val="0"/>
              </a:spcAft>
              <a:buSzPts val="750"/>
              <a:buAutoNum type="arabicPeriod"/>
            </a:pPr>
            <a:r>
              <a:rPr lang="en" sz="750"/>
              <a:t>J. P. Dieffenderfer et al., “Wearable wireless sensors for chronic respiratory disease monitoring,” in Proc. IEEE 12th Int. Conf. Wearable Implantable Body Sens.Networks, 2015, pp. 1–6.</a:t>
            </a:r>
            <a:endParaRPr sz="750"/>
          </a:p>
          <a:p>
            <a:pPr indent="-276225" lvl="0" marL="457200" rtl="0" algn="l">
              <a:spcBef>
                <a:spcPts val="0"/>
              </a:spcBef>
              <a:spcAft>
                <a:spcPts val="0"/>
              </a:spcAft>
              <a:buSzPts val="750"/>
              <a:buAutoNum type="arabicPeriod"/>
            </a:pPr>
            <a:r>
              <a:rPr lang="en" sz="750"/>
              <a:t>L. Taylor, X. Ding, D. Clifton and H. Lu, "Wearable Vital Signs Monitoring for Patients With Asthma: A Review," in IEEE Sensors Journal, vol. 23, no. 3, pp. 1734-1751, 1 Feb.1, 2023, doi: 10.1109/JSEN.2022.3224411.</a:t>
            </a:r>
            <a:endParaRPr sz="750"/>
          </a:p>
          <a:p>
            <a:pPr indent="-276225" lvl="0" marL="457200" rtl="0" algn="l">
              <a:spcBef>
                <a:spcPts val="0"/>
              </a:spcBef>
              <a:spcAft>
                <a:spcPts val="0"/>
              </a:spcAft>
              <a:buSzPts val="750"/>
              <a:buAutoNum type="arabicPeriod"/>
            </a:pPr>
            <a:r>
              <a:rPr lang="en" sz="750"/>
              <a:t>Kuhn M, Nalbant E, Kohlbrenner D, Alge M, Kuett L, Arvaji A, Sievi NA, Russi EW, Clarenbach CF. Validation of a small cough detector. ERJ Open Res. 2023 Jan 23;9(1):00279-2022. doi: 10.1183/23120541.00279-2022. PMID: 36699651; PMCID: PMC9868968.</a:t>
            </a:r>
            <a:endParaRPr sz="750"/>
          </a:p>
          <a:p>
            <a:pPr indent="-276225" lvl="0" marL="457200" rtl="0" algn="l">
              <a:spcBef>
                <a:spcPts val="0"/>
              </a:spcBef>
              <a:spcAft>
                <a:spcPts val="0"/>
              </a:spcAft>
              <a:buSzPts val="750"/>
              <a:buAutoNum type="arabicPeriod"/>
            </a:pPr>
            <a:r>
              <a:rPr lang="en" sz="750"/>
              <a:t>Mouomene Moffo, F., Vigny Noumsi Woguia, A., Mvogo Ngono, J., Bowong Tsakou, S., Nguekeu Metepong Lagpong, N. (2024). Detection and Recognition of Cough Sounds Using Deep Learning for Medical Monitoring. In: Tchakounte, F., Atemkeng, M., Rajagopalan, R.P. (eds) Safe, Secure, Ethical, Responsible Technologies and Emerging Applications. SAFER-TEA 2023. Lecture Notes of the Institute for Computer Sciences, Social Informatics and Telecommunications Engineering, vol 566. Springer, Cham. </a:t>
            </a:r>
            <a:r>
              <a:rPr lang="en" sz="750" u="sng">
                <a:solidFill>
                  <a:schemeClr val="hlink"/>
                </a:solidFill>
                <a:hlinkClick r:id="rId8"/>
              </a:rPr>
              <a:t>https://doi.org/10.1007/978-3-031-56396-6_18</a:t>
            </a:r>
            <a:endParaRPr sz="750"/>
          </a:p>
          <a:p>
            <a:pPr indent="-276225" lvl="0" marL="457200" rtl="0" algn="l">
              <a:spcBef>
                <a:spcPts val="0"/>
              </a:spcBef>
              <a:spcAft>
                <a:spcPts val="0"/>
              </a:spcAft>
              <a:buSzPts val="750"/>
              <a:buAutoNum type="arabicPeriod"/>
            </a:pPr>
            <a:r>
              <a:rPr lang="en" sz="750"/>
              <a:t>Gyeong-Tae Lee, Hyeonuk Nam, Seong-Hu Kim, Sang-Min Choi, Youngkey Kim, Yong-Hwa Park, Deep learning based cough detection camera using enhanced features, Expert Systems with Applications, Volume 206, 2022, 117811, ISSN 0957-4174, </a:t>
            </a:r>
            <a:r>
              <a:rPr lang="en" sz="750" u="sng">
                <a:solidFill>
                  <a:schemeClr val="hlink"/>
                </a:solidFill>
                <a:hlinkClick r:id="rId9"/>
              </a:rPr>
              <a:t>https://doi.org/10.1016/j.eswa.2022.117811</a:t>
            </a:r>
            <a:r>
              <a:rPr lang="en" sz="750"/>
              <a:t>.</a:t>
            </a:r>
            <a:endParaRPr sz="750"/>
          </a:p>
          <a:p>
            <a:pPr indent="-276225" lvl="0" marL="457200" rtl="0" algn="l">
              <a:spcBef>
                <a:spcPts val="0"/>
              </a:spcBef>
              <a:spcAft>
                <a:spcPts val="0"/>
              </a:spcAft>
              <a:buSzPts val="750"/>
              <a:buAutoNum type="arabicPeriod"/>
            </a:pPr>
            <a:r>
              <a:rPr lang="en" sz="750"/>
              <a:t>Mingyu You, Weihao Wang, You Li, Jiaming Liu, Xianghuai Xu, Zhongmin Qiu, Automatic cough detection from realistic audio recordings using C-BiLSTM with boundary regression,</a:t>
            </a:r>
            <a:endParaRPr sz="750"/>
          </a:p>
          <a:p>
            <a:pPr indent="-276225" lvl="0" marL="457200" rtl="0" algn="l">
              <a:spcBef>
                <a:spcPts val="0"/>
              </a:spcBef>
              <a:spcAft>
                <a:spcPts val="0"/>
              </a:spcAft>
              <a:buSzPts val="750"/>
              <a:buAutoNum type="arabicPeriod"/>
            </a:pPr>
            <a:r>
              <a:rPr lang="en" sz="750"/>
              <a:t>Biomedical Signal Processing and Control, Volume 72, Part A, 2022, 103304, ISSN 1746-8094, https://doi.org/10.1016/j.bspc.2021.103304.</a:t>
            </a:r>
            <a:endParaRPr sz="750"/>
          </a:p>
          <a:p>
            <a:pPr indent="-276225" lvl="0" marL="457200" rtl="0" algn="l">
              <a:spcBef>
                <a:spcPts val="0"/>
              </a:spcBef>
              <a:spcAft>
                <a:spcPts val="0"/>
              </a:spcAft>
              <a:buSzPts val="750"/>
              <a:buAutoNum type="arabicPeriod"/>
            </a:pPr>
            <a:r>
              <a:rPr lang="en" sz="750"/>
              <a:t>K. Safavi, R. Ratliff, K. Webb, and L. MacCracken, “Patients want a heavy dose of digital,” 2016.</a:t>
            </a:r>
            <a:endParaRPr sz="750"/>
          </a:p>
          <a:p>
            <a:pPr indent="-276225" lvl="0" marL="457200" rtl="0" algn="l">
              <a:spcBef>
                <a:spcPts val="0"/>
              </a:spcBef>
              <a:spcAft>
                <a:spcPts val="0"/>
              </a:spcAft>
              <a:buSzPts val="750"/>
              <a:buAutoNum type="arabicPeriod"/>
            </a:pPr>
            <a:r>
              <a:rPr lang="en" sz="750"/>
              <a:t>K. Bahadori, M. M. Doyle-Waters, C. Marra, L. Lynd, K. Alasaly and J. Swiston, “Economic burden of asthma: a systematic review,” BMC Pulmonary Medicine, vol. 9, no. 1, 2009.</a:t>
            </a:r>
            <a:endParaRPr sz="750"/>
          </a:p>
          <a:p>
            <a:pPr indent="-276225" lvl="0" marL="457200" rtl="0" algn="l">
              <a:spcBef>
                <a:spcPts val="0"/>
              </a:spcBef>
              <a:spcAft>
                <a:spcPts val="0"/>
              </a:spcAft>
              <a:buSzPts val="750"/>
              <a:buAutoNum type="arabicPeriod"/>
            </a:pPr>
            <a:r>
              <a:rPr lang="en" sz="750"/>
              <a:t>Website link - </a:t>
            </a:r>
            <a:r>
              <a:rPr lang="en" sz="750" u="sng">
                <a:solidFill>
                  <a:schemeClr val="hlink"/>
                </a:solidFill>
                <a:hlinkClick r:id="rId10"/>
              </a:rPr>
              <a:t>https://chatgpt.com/</a:t>
            </a:r>
            <a:r>
              <a:rPr lang="en" sz="750"/>
              <a:t> (Use for grammar checking and rephrasing the content)</a:t>
            </a:r>
            <a:endParaRPr sz="750"/>
          </a:p>
        </p:txBody>
      </p:sp>
      <p:sp>
        <p:nvSpPr>
          <p:cNvPr id="263" name="Google Shape;263;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7" name="Shape 267"/>
        <p:cNvGrpSpPr/>
        <p:nvPr/>
      </p:nvGrpSpPr>
      <p:grpSpPr>
        <a:xfrm>
          <a:off x="0" y="0"/>
          <a:ext cx="0" cy="0"/>
          <a:chOff x="0" y="0"/>
          <a:chExt cx="0" cy="0"/>
        </a:xfrm>
      </p:grpSpPr>
      <p:pic>
        <p:nvPicPr>
          <p:cNvPr id="268" name="Google Shape;268;p26"/>
          <p:cNvPicPr preferRelativeResize="0"/>
          <p:nvPr/>
        </p:nvPicPr>
        <p:blipFill>
          <a:blip r:embed="rId3">
            <a:alphaModFix/>
          </a:blip>
          <a:stretch>
            <a:fillRect/>
          </a:stretch>
        </p:blipFill>
        <p:spPr>
          <a:xfrm>
            <a:off x="-39100" y="0"/>
            <a:ext cx="9144000" cy="5143500"/>
          </a:xfrm>
          <a:prstGeom prst="rect">
            <a:avLst/>
          </a:prstGeom>
          <a:noFill/>
          <a:ln>
            <a:noFill/>
          </a:ln>
        </p:spPr>
      </p:pic>
      <p:sp>
        <p:nvSpPr>
          <p:cNvPr id="269" name="Google Shape;269;p26"/>
          <p:cNvSpPr txBox="1"/>
          <p:nvPr>
            <p:ph idx="4294967295" type="title"/>
          </p:nvPr>
        </p:nvSpPr>
        <p:spPr>
          <a:xfrm>
            <a:off x="457200" y="685800"/>
            <a:ext cx="8522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User Experience</a:t>
            </a:r>
            <a:endParaRPr b="1"/>
          </a:p>
        </p:txBody>
      </p:sp>
      <p:sp>
        <p:nvSpPr>
          <p:cNvPr id="270" name="Google Shape;270;p26"/>
          <p:cNvSpPr txBox="1"/>
          <p:nvPr/>
        </p:nvSpPr>
        <p:spPr>
          <a:xfrm>
            <a:off x="1179750" y="1404650"/>
            <a:ext cx="1366500" cy="3693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Potential Patient</a:t>
            </a:r>
            <a:endParaRPr sz="1200">
              <a:solidFill>
                <a:schemeClr val="dk2"/>
              </a:solidFill>
            </a:endParaRPr>
          </a:p>
        </p:txBody>
      </p:sp>
      <p:cxnSp>
        <p:nvCxnSpPr>
          <p:cNvPr id="271" name="Google Shape;271;p26"/>
          <p:cNvCxnSpPr/>
          <p:nvPr/>
        </p:nvCxnSpPr>
        <p:spPr>
          <a:xfrm flipH="1">
            <a:off x="1824100" y="1773950"/>
            <a:ext cx="3300" cy="243600"/>
          </a:xfrm>
          <a:prstGeom prst="straightConnector1">
            <a:avLst/>
          </a:prstGeom>
          <a:noFill/>
          <a:ln cap="flat" cmpd="sng" w="9525">
            <a:solidFill>
              <a:schemeClr val="dk2"/>
            </a:solidFill>
            <a:prstDash val="solid"/>
            <a:round/>
            <a:headEnd len="med" w="med" type="none"/>
            <a:tailEnd len="med" w="med" type="triangle"/>
          </a:ln>
        </p:spPr>
      </p:cxnSp>
      <p:sp>
        <p:nvSpPr>
          <p:cNvPr id="272" name="Google Shape;272;p26"/>
          <p:cNvSpPr txBox="1"/>
          <p:nvPr/>
        </p:nvSpPr>
        <p:spPr>
          <a:xfrm>
            <a:off x="645150" y="2017550"/>
            <a:ext cx="2435700" cy="738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If a doctor detects asthma symptoms and decides to monitor them..</a:t>
            </a:r>
            <a:endParaRPr sz="1200">
              <a:solidFill>
                <a:schemeClr val="dk2"/>
              </a:solidFill>
            </a:endParaRPr>
          </a:p>
        </p:txBody>
      </p:sp>
      <p:sp>
        <p:nvSpPr>
          <p:cNvPr id="273" name="Google Shape;273;p26"/>
          <p:cNvSpPr txBox="1"/>
          <p:nvPr/>
        </p:nvSpPr>
        <p:spPr>
          <a:xfrm>
            <a:off x="645150" y="2913100"/>
            <a:ext cx="2435700" cy="3693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A patient receives a 'cough bot'</a:t>
            </a:r>
            <a:endParaRPr sz="1200">
              <a:solidFill>
                <a:schemeClr val="dk2"/>
              </a:solidFill>
            </a:endParaRPr>
          </a:p>
        </p:txBody>
      </p:sp>
      <p:cxnSp>
        <p:nvCxnSpPr>
          <p:cNvPr id="274" name="Google Shape;274;p26"/>
          <p:cNvCxnSpPr>
            <a:stCxn id="272" idx="2"/>
            <a:endCxn id="273" idx="0"/>
          </p:cNvCxnSpPr>
          <p:nvPr/>
        </p:nvCxnSpPr>
        <p:spPr>
          <a:xfrm>
            <a:off x="1863000" y="2756450"/>
            <a:ext cx="0" cy="156600"/>
          </a:xfrm>
          <a:prstGeom prst="straightConnector1">
            <a:avLst/>
          </a:prstGeom>
          <a:noFill/>
          <a:ln cap="flat" cmpd="sng" w="9525">
            <a:solidFill>
              <a:schemeClr val="dk2"/>
            </a:solidFill>
            <a:prstDash val="solid"/>
            <a:round/>
            <a:headEnd len="med" w="med" type="none"/>
            <a:tailEnd len="med" w="med" type="triangle"/>
          </a:ln>
        </p:spPr>
      </p:cxnSp>
      <p:sp>
        <p:nvSpPr>
          <p:cNvPr id="275" name="Google Shape;275;p26"/>
          <p:cNvSpPr txBox="1"/>
          <p:nvPr/>
        </p:nvSpPr>
        <p:spPr>
          <a:xfrm>
            <a:off x="645150" y="3515500"/>
            <a:ext cx="2435700" cy="554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rPr>
              <a:t>Patient</a:t>
            </a:r>
            <a:r>
              <a:rPr lang="en" sz="1200">
                <a:solidFill>
                  <a:schemeClr val="dk2"/>
                </a:solidFill>
              </a:rPr>
              <a:t> used the device for 48 hrs</a:t>
            </a:r>
            <a:endParaRPr sz="1200">
              <a:solidFill>
                <a:schemeClr val="dk2"/>
              </a:solidFill>
            </a:endParaRPr>
          </a:p>
        </p:txBody>
      </p:sp>
      <p:cxnSp>
        <p:nvCxnSpPr>
          <p:cNvPr id="276" name="Google Shape;276;p26"/>
          <p:cNvCxnSpPr>
            <a:stCxn id="273" idx="2"/>
            <a:endCxn id="275" idx="0"/>
          </p:cNvCxnSpPr>
          <p:nvPr/>
        </p:nvCxnSpPr>
        <p:spPr>
          <a:xfrm>
            <a:off x="1863000" y="3282400"/>
            <a:ext cx="0" cy="233100"/>
          </a:xfrm>
          <a:prstGeom prst="straightConnector1">
            <a:avLst/>
          </a:prstGeom>
          <a:noFill/>
          <a:ln cap="flat" cmpd="sng" w="9525">
            <a:solidFill>
              <a:schemeClr val="dk2"/>
            </a:solidFill>
            <a:prstDash val="solid"/>
            <a:round/>
            <a:headEnd len="med" w="med" type="none"/>
            <a:tailEnd len="med" w="med" type="triangle"/>
          </a:ln>
        </p:spPr>
      </p:cxnSp>
      <p:sp>
        <p:nvSpPr>
          <p:cNvPr id="277" name="Google Shape;277;p26"/>
          <p:cNvSpPr txBox="1"/>
          <p:nvPr/>
        </p:nvSpPr>
        <p:spPr>
          <a:xfrm>
            <a:off x="645150" y="4254075"/>
            <a:ext cx="2435700" cy="554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rPr>
              <a:t>The 'cough bot' is submitted to the doctor</a:t>
            </a:r>
            <a:endParaRPr sz="1200">
              <a:solidFill>
                <a:schemeClr val="dk2"/>
              </a:solidFill>
            </a:endParaRPr>
          </a:p>
        </p:txBody>
      </p:sp>
      <p:sp>
        <p:nvSpPr>
          <p:cNvPr id="278" name="Google Shape;278;p26"/>
          <p:cNvSpPr txBox="1"/>
          <p:nvPr/>
        </p:nvSpPr>
        <p:spPr>
          <a:xfrm>
            <a:off x="5497250" y="1219850"/>
            <a:ext cx="2435700" cy="554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rPr>
              <a:t>The data is fed into the cough detection algorithms.</a:t>
            </a:r>
            <a:endParaRPr sz="1200">
              <a:solidFill>
                <a:schemeClr val="dk2"/>
              </a:solidFill>
            </a:endParaRPr>
          </a:p>
        </p:txBody>
      </p:sp>
      <p:sp>
        <p:nvSpPr>
          <p:cNvPr id="279" name="Google Shape;279;p26"/>
          <p:cNvSpPr txBox="1"/>
          <p:nvPr/>
        </p:nvSpPr>
        <p:spPr>
          <a:xfrm>
            <a:off x="5497250" y="2017550"/>
            <a:ext cx="2435700" cy="738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Retrieve cough parameters such as intensity, amplitude, and more.</a:t>
            </a:r>
            <a:endParaRPr sz="1200">
              <a:solidFill>
                <a:schemeClr val="dk2"/>
              </a:solidFill>
            </a:endParaRPr>
          </a:p>
        </p:txBody>
      </p:sp>
      <p:cxnSp>
        <p:nvCxnSpPr>
          <p:cNvPr id="280" name="Google Shape;280;p26"/>
          <p:cNvCxnSpPr>
            <a:stCxn id="278" idx="2"/>
            <a:endCxn id="279" idx="0"/>
          </p:cNvCxnSpPr>
          <p:nvPr/>
        </p:nvCxnSpPr>
        <p:spPr>
          <a:xfrm>
            <a:off x="6715100" y="1773950"/>
            <a:ext cx="0" cy="243600"/>
          </a:xfrm>
          <a:prstGeom prst="straightConnector1">
            <a:avLst/>
          </a:prstGeom>
          <a:noFill/>
          <a:ln cap="flat" cmpd="sng" w="9525">
            <a:solidFill>
              <a:schemeClr val="dk2"/>
            </a:solidFill>
            <a:prstDash val="solid"/>
            <a:round/>
            <a:headEnd len="med" w="med" type="none"/>
            <a:tailEnd len="med" w="med" type="triangle"/>
          </a:ln>
        </p:spPr>
      </p:cxnSp>
      <p:sp>
        <p:nvSpPr>
          <p:cNvPr id="281" name="Google Shape;281;p26"/>
          <p:cNvSpPr txBox="1"/>
          <p:nvPr/>
        </p:nvSpPr>
        <p:spPr>
          <a:xfrm>
            <a:off x="5497250" y="2913100"/>
            <a:ext cx="2435700" cy="738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The doctor will decide the next steps based on the cough characteristics</a:t>
            </a:r>
            <a:endParaRPr sz="1200">
              <a:solidFill>
                <a:schemeClr val="dk2"/>
              </a:solidFill>
            </a:endParaRPr>
          </a:p>
        </p:txBody>
      </p:sp>
      <p:cxnSp>
        <p:nvCxnSpPr>
          <p:cNvPr id="282" name="Google Shape;282;p26"/>
          <p:cNvCxnSpPr>
            <a:stCxn id="279" idx="2"/>
            <a:endCxn id="281" idx="0"/>
          </p:cNvCxnSpPr>
          <p:nvPr/>
        </p:nvCxnSpPr>
        <p:spPr>
          <a:xfrm>
            <a:off x="6715100" y="2756450"/>
            <a:ext cx="0" cy="156600"/>
          </a:xfrm>
          <a:prstGeom prst="straightConnector1">
            <a:avLst/>
          </a:prstGeom>
          <a:noFill/>
          <a:ln cap="flat" cmpd="sng" w="9525">
            <a:solidFill>
              <a:schemeClr val="dk2"/>
            </a:solidFill>
            <a:prstDash val="solid"/>
            <a:round/>
            <a:headEnd len="med" w="med" type="none"/>
            <a:tailEnd len="med" w="med" type="triangle"/>
          </a:ln>
        </p:spPr>
      </p:cxnSp>
      <p:cxnSp>
        <p:nvCxnSpPr>
          <p:cNvPr id="283" name="Google Shape;283;p26"/>
          <p:cNvCxnSpPr/>
          <p:nvPr/>
        </p:nvCxnSpPr>
        <p:spPr>
          <a:xfrm>
            <a:off x="4525250" y="1165325"/>
            <a:ext cx="15300" cy="3642900"/>
          </a:xfrm>
          <a:prstGeom prst="straightConnector1">
            <a:avLst/>
          </a:prstGeom>
          <a:noFill/>
          <a:ln cap="flat" cmpd="sng" w="9525">
            <a:solidFill>
              <a:schemeClr val="dk2"/>
            </a:solidFill>
            <a:prstDash val="solid"/>
            <a:round/>
            <a:headEnd len="med" w="med" type="none"/>
            <a:tailEnd len="med" w="med" type="none"/>
          </a:ln>
        </p:spPr>
      </p:cxnSp>
      <p:sp>
        <p:nvSpPr>
          <p:cNvPr id="284" name="Google Shape;284;p26"/>
          <p:cNvSpPr txBox="1"/>
          <p:nvPr/>
        </p:nvSpPr>
        <p:spPr>
          <a:xfrm>
            <a:off x="3080850" y="1189100"/>
            <a:ext cx="1423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Data collection </a:t>
            </a:r>
            <a:endParaRPr>
              <a:solidFill>
                <a:schemeClr val="dk2"/>
              </a:solidFill>
            </a:endParaRPr>
          </a:p>
          <a:p>
            <a:pPr indent="0" lvl="0" marL="0" rtl="0" algn="l">
              <a:spcBef>
                <a:spcPts val="0"/>
              </a:spcBef>
              <a:spcAft>
                <a:spcPts val="0"/>
              </a:spcAft>
              <a:buNone/>
            </a:pPr>
            <a:r>
              <a:rPr lang="en">
                <a:solidFill>
                  <a:schemeClr val="dk2"/>
                </a:solidFill>
              </a:rPr>
              <a:t>from patient</a:t>
            </a:r>
            <a:endParaRPr>
              <a:solidFill>
                <a:schemeClr val="dk2"/>
              </a:solidFill>
            </a:endParaRPr>
          </a:p>
        </p:txBody>
      </p:sp>
      <p:sp>
        <p:nvSpPr>
          <p:cNvPr id="285" name="Google Shape;285;p26"/>
          <p:cNvSpPr txBox="1"/>
          <p:nvPr/>
        </p:nvSpPr>
        <p:spPr>
          <a:xfrm>
            <a:off x="4730025" y="4021050"/>
            <a:ext cx="14235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Finding Out</a:t>
            </a:r>
            <a:r>
              <a:rPr lang="en">
                <a:solidFill>
                  <a:schemeClr val="dk2"/>
                </a:solidFill>
              </a:rPr>
              <a:t> cough </a:t>
            </a:r>
            <a:r>
              <a:rPr lang="en">
                <a:solidFill>
                  <a:schemeClr val="dk2"/>
                </a:solidFill>
              </a:rPr>
              <a:t>characteristics</a:t>
            </a:r>
            <a:endParaRPr>
              <a:solidFill>
                <a:schemeClr val="dk2"/>
              </a:solidFill>
            </a:endParaRPr>
          </a:p>
        </p:txBody>
      </p:sp>
      <p:sp>
        <p:nvSpPr>
          <p:cNvPr id="286" name="Google Shape;286;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0" name="Shape 290"/>
        <p:cNvGrpSpPr/>
        <p:nvPr/>
      </p:nvGrpSpPr>
      <p:grpSpPr>
        <a:xfrm>
          <a:off x="0" y="0"/>
          <a:ext cx="0" cy="0"/>
          <a:chOff x="0" y="0"/>
          <a:chExt cx="0" cy="0"/>
        </a:xfrm>
      </p:grpSpPr>
      <p:sp>
        <p:nvSpPr>
          <p:cNvPr id="291" name="Google Shape;291;p2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292" name="Google Shape;292;p2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293" name="Google Shape;293;p27"/>
          <p:cNvPicPr preferRelativeResize="0"/>
          <p:nvPr/>
        </p:nvPicPr>
        <p:blipFill>
          <a:blip r:embed="rId3">
            <a:alphaModFix/>
          </a:blip>
          <a:stretch>
            <a:fillRect/>
          </a:stretch>
        </p:blipFill>
        <p:spPr>
          <a:xfrm>
            <a:off x="0" y="0"/>
            <a:ext cx="9144000" cy="5143500"/>
          </a:xfrm>
          <a:prstGeom prst="rect">
            <a:avLst/>
          </a:prstGeom>
          <a:noFill/>
          <a:ln>
            <a:noFill/>
          </a:ln>
        </p:spPr>
      </p:pic>
      <p:sp>
        <p:nvSpPr>
          <p:cNvPr id="294" name="Google Shape;294;p27"/>
          <p:cNvSpPr txBox="1"/>
          <p:nvPr>
            <p:ph idx="4294967295" type="title"/>
          </p:nvPr>
        </p:nvSpPr>
        <p:spPr>
          <a:xfrm>
            <a:off x="457200" y="685800"/>
            <a:ext cx="8522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Societal Impact</a:t>
            </a:r>
            <a:endParaRPr b="1"/>
          </a:p>
        </p:txBody>
      </p:sp>
      <p:sp>
        <p:nvSpPr>
          <p:cNvPr id="295" name="Google Shape;295;p27"/>
          <p:cNvSpPr txBox="1"/>
          <p:nvPr>
            <p:ph idx="4294967295" type="body"/>
          </p:nvPr>
        </p:nvSpPr>
        <p:spPr>
          <a:xfrm>
            <a:off x="557025" y="1287925"/>
            <a:ext cx="8323200" cy="30195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b="1" lang="en" sz="1400">
                <a:solidFill>
                  <a:schemeClr val="dk1"/>
                </a:solidFill>
              </a:rPr>
              <a:t>Impact on People:</a:t>
            </a:r>
            <a:endParaRPr b="1" sz="1400">
              <a:solidFill>
                <a:schemeClr val="dk1"/>
              </a:solidFill>
            </a:endParaRPr>
          </a:p>
          <a:p>
            <a:pPr indent="-317500" lvl="0" marL="457200" rtl="0" algn="l">
              <a:spcBef>
                <a:spcPts val="1200"/>
              </a:spcBef>
              <a:spcAft>
                <a:spcPts val="0"/>
              </a:spcAft>
              <a:buClr>
                <a:schemeClr val="dk1"/>
              </a:buClr>
              <a:buSzPts val="1400"/>
              <a:buChar char="●"/>
            </a:pPr>
            <a:r>
              <a:rPr lang="en" sz="1400">
                <a:solidFill>
                  <a:schemeClr val="dk1"/>
                </a:solidFill>
              </a:rPr>
              <a:t>Usable outside of specialized medical settings.</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Modular, wearable design for ease of use (DIY approach).</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Cost-efficient solution.</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Early detection enables preventive care.</a:t>
            </a:r>
            <a:endParaRPr b="1" sz="1400">
              <a:solidFill>
                <a:schemeClr val="dk1"/>
              </a:solidFill>
            </a:endParaRPr>
          </a:p>
          <a:p>
            <a:pPr indent="0" lvl="0" marL="457200" rtl="0" algn="l">
              <a:spcBef>
                <a:spcPts val="1200"/>
              </a:spcBef>
              <a:spcAft>
                <a:spcPts val="0"/>
              </a:spcAft>
              <a:buNone/>
            </a:pPr>
            <a:r>
              <a:t/>
            </a:r>
            <a:endParaRPr b="1" sz="1400">
              <a:solidFill>
                <a:schemeClr val="dk1"/>
              </a:solidFill>
            </a:endParaRPr>
          </a:p>
          <a:p>
            <a:pPr indent="0" lvl="0" marL="0" rtl="0" algn="l">
              <a:spcBef>
                <a:spcPts val="1200"/>
              </a:spcBef>
              <a:spcAft>
                <a:spcPts val="0"/>
              </a:spcAft>
              <a:buNone/>
            </a:pPr>
            <a:r>
              <a:rPr b="1" lang="en" sz="1400">
                <a:solidFill>
                  <a:schemeClr val="dk1"/>
                </a:solidFill>
              </a:rPr>
              <a:t>Research Impact:</a:t>
            </a:r>
            <a:endParaRPr b="1" sz="1400">
              <a:solidFill>
                <a:schemeClr val="dk1"/>
              </a:solidFill>
            </a:endParaRPr>
          </a:p>
          <a:p>
            <a:pPr indent="-317500" lvl="0" marL="457200" rtl="0" algn="l">
              <a:spcBef>
                <a:spcPts val="1200"/>
              </a:spcBef>
              <a:spcAft>
                <a:spcPts val="0"/>
              </a:spcAft>
              <a:buClr>
                <a:schemeClr val="dk1"/>
              </a:buClr>
              <a:buSzPts val="1400"/>
              <a:buChar char="●"/>
            </a:pPr>
            <a:r>
              <a:rPr lang="en" sz="1400">
                <a:solidFill>
                  <a:schemeClr val="dk1"/>
                </a:solidFill>
              </a:rPr>
              <a:t>Accurate data collection through multi-sensor integration.</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Machine learning-based prognosis supported by data.</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Potential for application in the study and detection of other conditions.</a:t>
            </a:r>
            <a:endParaRPr sz="1400">
              <a:solidFill>
                <a:schemeClr val="dk1"/>
              </a:solidFill>
            </a:endParaRPr>
          </a:p>
          <a:p>
            <a:pPr indent="0" lvl="0" marL="457200" rtl="0" algn="l">
              <a:spcBef>
                <a:spcPts val="1200"/>
              </a:spcBef>
              <a:spcAft>
                <a:spcPts val="0"/>
              </a:spcAft>
              <a:buNone/>
            </a:pPr>
            <a:r>
              <a:t/>
            </a:r>
            <a:endParaRPr b="1" sz="1400" u="sng"/>
          </a:p>
          <a:p>
            <a:pPr indent="0" lvl="0" marL="0" rtl="0" algn="l">
              <a:spcBef>
                <a:spcPts val="1200"/>
              </a:spcBef>
              <a:spcAft>
                <a:spcPts val="0"/>
              </a:spcAft>
              <a:buNone/>
            </a:pPr>
            <a:r>
              <a:t/>
            </a:r>
            <a:endParaRPr sz="1400"/>
          </a:p>
          <a:p>
            <a:pPr indent="0" lvl="0" marL="457200" rtl="0" algn="l">
              <a:spcBef>
                <a:spcPts val="1200"/>
              </a:spcBef>
              <a:spcAft>
                <a:spcPts val="0"/>
              </a:spcAft>
              <a:buNone/>
            </a:pPr>
            <a:r>
              <a:t/>
            </a:r>
            <a:endParaRPr sz="1400"/>
          </a:p>
          <a:p>
            <a:pPr indent="0" lvl="0" marL="457200" rtl="0" algn="l">
              <a:spcBef>
                <a:spcPts val="1200"/>
              </a:spcBef>
              <a:spcAft>
                <a:spcPts val="1200"/>
              </a:spcAft>
              <a:buNone/>
            </a:pPr>
            <a:r>
              <a:t/>
            </a:r>
            <a:endParaRPr sz="1400"/>
          </a:p>
        </p:txBody>
      </p:sp>
      <p:sp>
        <p:nvSpPr>
          <p:cNvPr id="296" name="Google Shape;296;p27"/>
          <p:cNvSpPr txBox="1"/>
          <p:nvPr/>
        </p:nvSpPr>
        <p:spPr>
          <a:xfrm>
            <a:off x="10350" y="4712400"/>
            <a:ext cx="9123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rPr>
              <a:t>References - </a:t>
            </a:r>
            <a:r>
              <a:rPr lang="en" sz="800">
                <a:solidFill>
                  <a:schemeClr val="dk2"/>
                </a:solidFill>
              </a:rPr>
              <a:t>L. Taylor, X. Ding, D. Clifton and H. Lu, "Wearable Vital Signs Monitoring for Patients With Asthma: A Review," in IEEE Sensors Journal, vol. 23, no. 3, pp. 1734-1751, 1 Feb.1, 2023, doi: 10.1109/JSEN.2022.3224411.</a:t>
            </a:r>
            <a:endParaRPr sz="800">
              <a:solidFill>
                <a:schemeClr val="dk2"/>
              </a:solidFill>
            </a:endParaRPr>
          </a:p>
        </p:txBody>
      </p:sp>
      <p:sp>
        <p:nvSpPr>
          <p:cNvPr id="297" name="Google Shape;297;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1" name="Shape 301"/>
        <p:cNvGrpSpPr/>
        <p:nvPr/>
      </p:nvGrpSpPr>
      <p:grpSpPr>
        <a:xfrm>
          <a:off x="0" y="0"/>
          <a:ext cx="0" cy="0"/>
          <a:chOff x="0" y="0"/>
          <a:chExt cx="0" cy="0"/>
        </a:xfrm>
      </p:grpSpPr>
      <p:sp>
        <p:nvSpPr>
          <p:cNvPr id="302" name="Google Shape;302;p2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303" name="Google Shape;303;p2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304" name="Google Shape;304;p28"/>
          <p:cNvPicPr preferRelativeResize="0"/>
          <p:nvPr/>
        </p:nvPicPr>
        <p:blipFill>
          <a:blip r:embed="rId3">
            <a:alphaModFix/>
          </a:blip>
          <a:stretch>
            <a:fillRect/>
          </a:stretch>
        </p:blipFill>
        <p:spPr>
          <a:xfrm>
            <a:off x="0" y="0"/>
            <a:ext cx="9144000" cy="5143500"/>
          </a:xfrm>
          <a:prstGeom prst="rect">
            <a:avLst/>
          </a:prstGeom>
          <a:noFill/>
          <a:ln>
            <a:noFill/>
          </a:ln>
        </p:spPr>
      </p:pic>
      <p:sp>
        <p:nvSpPr>
          <p:cNvPr id="305" name="Google Shape;305;p28"/>
          <p:cNvSpPr txBox="1"/>
          <p:nvPr>
            <p:ph idx="4294967295" type="title"/>
          </p:nvPr>
        </p:nvSpPr>
        <p:spPr>
          <a:xfrm>
            <a:off x="456450" y="407875"/>
            <a:ext cx="8522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Project Plan</a:t>
            </a:r>
            <a:endParaRPr b="1"/>
          </a:p>
        </p:txBody>
      </p:sp>
      <p:pic>
        <p:nvPicPr>
          <p:cNvPr id="306" name="Google Shape;306;p28"/>
          <p:cNvPicPr preferRelativeResize="0"/>
          <p:nvPr/>
        </p:nvPicPr>
        <p:blipFill>
          <a:blip r:embed="rId4">
            <a:alphaModFix/>
          </a:blip>
          <a:stretch>
            <a:fillRect/>
          </a:stretch>
        </p:blipFill>
        <p:spPr>
          <a:xfrm>
            <a:off x="1069075" y="980575"/>
            <a:ext cx="6377024" cy="3409074"/>
          </a:xfrm>
          <a:prstGeom prst="rect">
            <a:avLst/>
          </a:prstGeom>
          <a:noFill/>
          <a:ln>
            <a:noFill/>
          </a:ln>
        </p:spPr>
      </p:pic>
      <p:sp>
        <p:nvSpPr>
          <p:cNvPr id="307" name="Google Shape;307;p28"/>
          <p:cNvSpPr txBox="1"/>
          <p:nvPr/>
        </p:nvSpPr>
        <p:spPr>
          <a:xfrm>
            <a:off x="1050288" y="4463175"/>
            <a:ext cx="6414600" cy="59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Clr>
                <a:schemeClr val="dk1"/>
              </a:buClr>
              <a:buSzPts val="1100"/>
              <a:buFont typeface="Arial"/>
              <a:buNone/>
            </a:pPr>
            <a:r>
              <a:rPr lang="en" sz="800">
                <a:solidFill>
                  <a:schemeClr val="dk1"/>
                </a:solidFill>
              </a:rPr>
              <a:t>Note - For this project, there are distinct parts: the first part involves designing the cough bot hardware and software, while the second part focuses on cough detection and analyzing cough-related features. Additionally, we are considering an extra parallel study to optimize sensor placement on the body for better detection.</a:t>
            </a:r>
            <a:endParaRPr sz="800">
              <a:solidFill>
                <a:schemeClr val="dk2"/>
              </a:solidFill>
            </a:endParaRPr>
          </a:p>
        </p:txBody>
      </p:sp>
      <p:sp>
        <p:nvSpPr>
          <p:cNvPr id="308" name="Google Shape;308;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2" name="Shape 312"/>
        <p:cNvGrpSpPr/>
        <p:nvPr/>
      </p:nvGrpSpPr>
      <p:grpSpPr>
        <a:xfrm>
          <a:off x="0" y="0"/>
          <a:ext cx="0" cy="0"/>
          <a:chOff x="0" y="0"/>
          <a:chExt cx="0" cy="0"/>
        </a:xfrm>
      </p:grpSpPr>
      <p:sp>
        <p:nvSpPr>
          <p:cNvPr id="313" name="Google Shape;313;p2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314" name="Google Shape;314;p29"/>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315" name="Google Shape;315;p29"/>
          <p:cNvPicPr preferRelativeResize="0"/>
          <p:nvPr/>
        </p:nvPicPr>
        <p:blipFill>
          <a:blip r:embed="rId3">
            <a:alphaModFix/>
          </a:blip>
          <a:stretch>
            <a:fillRect/>
          </a:stretch>
        </p:blipFill>
        <p:spPr>
          <a:xfrm>
            <a:off x="0" y="0"/>
            <a:ext cx="9144000" cy="5143500"/>
          </a:xfrm>
          <a:prstGeom prst="rect">
            <a:avLst/>
          </a:prstGeom>
          <a:noFill/>
          <a:ln>
            <a:noFill/>
          </a:ln>
        </p:spPr>
      </p:pic>
      <p:sp>
        <p:nvSpPr>
          <p:cNvPr id="316" name="Google Shape;316;p29"/>
          <p:cNvSpPr txBox="1"/>
          <p:nvPr>
            <p:ph idx="4294967295" type="title"/>
          </p:nvPr>
        </p:nvSpPr>
        <p:spPr>
          <a:xfrm>
            <a:off x="457200" y="685800"/>
            <a:ext cx="8522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Future Steps</a:t>
            </a:r>
            <a:endParaRPr b="1"/>
          </a:p>
          <a:p>
            <a:pPr indent="0" lvl="0" marL="0" rtl="0" algn="l">
              <a:spcBef>
                <a:spcPts val="0"/>
              </a:spcBef>
              <a:spcAft>
                <a:spcPts val="0"/>
              </a:spcAft>
              <a:buNone/>
            </a:pPr>
            <a:r>
              <a:t/>
            </a:r>
            <a:endParaRPr b="1"/>
          </a:p>
        </p:txBody>
      </p:sp>
      <p:sp>
        <p:nvSpPr>
          <p:cNvPr id="317" name="Google Shape;317;p29"/>
          <p:cNvSpPr txBox="1"/>
          <p:nvPr>
            <p:ph idx="4294967295" type="body"/>
          </p:nvPr>
        </p:nvSpPr>
        <p:spPr>
          <a:xfrm>
            <a:off x="457200" y="1371600"/>
            <a:ext cx="8520600" cy="1371900"/>
          </a:xfrm>
          <a:prstGeom prst="rect">
            <a:avLst/>
          </a:prstGeom>
        </p:spPr>
        <p:txBody>
          <a:bodyPr anchorCtr="0" anchor="t" bIns="91425" lIns="91425" spcFirstLastPara="1" rIns="91425" wrap="square" tIns="91425">
            <a:normAutofit fontScale="92500" lnSpcReduction="20000"/>
          </a:bodyPr>
          <a:lstStyle/>
          <a:p>
            <a:pPr indent="-334328" lvl="0" marL="457200" rtl="0" algn="l">
              <a:spcBef>
                <a:spcPts val="0"/>
              </a:spcBef>
              <a:spcAft>
                <a:spcPts val="0"/>
              </a:spcAft>
              <a:buSzPct val="100000"/>
              <a:buAutoNum type="arabicPeriod"/>
            </a:pPr>
            <a:r>
              <a:rPr lang="en"/>
              <a:t>Select and purchase sensors as needed.</a:t>
            </a:r>
            <a:endParaRPr/>
          </a:p>
          <a:p>
            <a:pPr indent="-334328" lvl="0" marL="457200" rtl="0" algn="l">
              <a:spcBef>
                <a:spcPts val="0"/>
              </a:spcBef>
              <a:spcAft>
                <a:spcPts val="0"/>
              </a:spcAft>
              <a:buSzPct val="100000"/>
              <a:buAutoNum type="arabicPeriod"/>
            </a:pPr>
            <a:r>
              <a:rPr lang="en"/>
              <a:t>Set up software for controller programming.</a:t>
            </a:r>
            <a:endParaRPr/>
          </a:p>
          <a:p>
            <a:pPr indent="-334328" lvl="0" marL="457200" rtl="0" algn="l">
              <a:spcBef>
                <a:spcPts val="0"/>
              </a:spcBef>
              <a:spcAft>
                <a:spcPts val="0"/>
              </a:spcAft>
              <a:buSzPct val="100000"/>
              <a:buAutoNum type="arabicPeriod"/>
            </a:pPr>
            <a:r>
              <a:rPr lang="en"/>
              <a:t>Search for batteries.</a:t>
            </a:r>
            <a:endParaRPr/>
          </a:p>
          <a:p>
            <a:pPr indent="0" lvl="0" marL="457200" rtl="0" algn="l">
              <a:spcBef>
                <a:spcPts val="1200"/>
              </a:spcBef>
              <a:spcAft>
                <a:spcPts val="1200"/>
              </a:spcAft>
              <a:buNone/>
            </a:pPr>
            <a:r>
              <a:t/>
            </a:r>
            <a:endParaRPr/>
          </a:p>
        </p:txBody>
      </p:sp>
      <p:sp>
        <p:nvSpPr>
          <p:cNvPr id="318" name="Google Shape;318;p29"/>
          <p:cNvSpPr txBox="1"/>
          <p:nvPr>
            <p:ph idx="4294967295" type="title"/>
          </p:nvPr>
        </p:nvSpPr>
        <p:spPr>
          <a:xfrm>
            <a:off x="579700" y="2490400"/>
            <a:ext cx="8522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Challenges</a:t>
            </a:r>
            <a:r>
              <a:rPr b="1" lang="en"/>
              <a:t> </a:t>
            </a:r>
            <a:endParaRPr b="1"/>
          </a:p>
          <a:p>
            <a:pPr indent="0" lvl="0" marL="0" rtl="0" algn="l">
              <a:spcBef>
                <a:spcPts val="0"/>
              </a:spcBef>
              <a:spcAft>
                <a:spcPts val="0"/>
              </a:spcAft>
              <a:buNone/>
            </a:pPr>
            <a:r>
              <a:t/>
            </a:r>
            <a:endParaRPr b="1"/>
          </a:p>
        </p:txBody>
      </p:sp>
      <p:sp>
        <p:nvSpPr>
          <p:cNvPr id="319" name="Google Shape;319;p29"/>
          <p:cNvSpPr txBox="1"/>
          <p:nvPr>
            <p:ph idx="4294967295" type="body"/>
          </p:nvPr>
        </p:nvSpPr>
        <p:spPr>
          <a:xfrm>
            <a:off x="457200" y="3183675"/>
            <a:ext cx="8520600" cy="1371900"/>
          </a:xfrm>
          <a:prstGeom prst="rect">
            <a:avLst/>
          </a:prstGeom>
        </p:spPr>
        <p:txBody>
          <a:bodyPr anchorCtr="0" anchor="t" bIns="91425" lIns="91425" spcFirstLastPara="1" rIns="91425" wrap="square" tIns="91425">
            <a:normAutofit fontScale="77500" lnSpcReduction="20000"/>
          </a:bodyPr>
          <a:lstStyle/>
          <a:p>
            <a:pPr indent="-317183" lvl="0" marL="457200" rtl="0" algn="l">
              <a:spcBef>
                <a:spcPts val="0"/>
              </a:spcBef>
              <a:spcAft>
                <a:spcPts val="0"/>
              </a:spcAft>
              <a:buSzPct val="100000"/>
              <a:buAutoNum type="arabicPeriod"/>
            </a:pPr>
            <a:r>
              <a:rPr lang="en"/>
              <a:t>We need to determine the types of sensors that will accurately detect body signals, including their size and the interfacing protocols that are suitable for our needs.</a:t>
            </a:r>
            <a:endParaRPr/>
          </a:p>
          <a:p>
            <a:pPr indent="-317183" lvl="0" marL="457200" rtl="0" algn="l">
              <a:spcBef>
                <a:spcPts val="0"/>
              </a:spcBef>
              <a:spcAft>
                <a:spcPts val="0"/>
              </a:spcAft>
              <a:buSzPct val="100000"/>
              <a:buAutoNum type="arabicPeriod"/>
            </a:pPr>
            <a:r>
              <a:rPr lang="en"/>
              <a:t>Set up the environment for controller programming.</a:t>
            </a:r>
            <a:endParaRPr/>
          </a:p>
          <a:p>
            <a:pPr indent="-317183" lvl="0" marL="457200" rtl="0" algn="l">
              <a:spcBef>
                <a:spcPts val="0"/>
              </a:spcBef>
              <a:spcAft>
                <a:spcPts val="0"/>
              </a:spcAft>
              <a:buSzPct val="100000"/>
              <a:buAutoNum type="arabicPeriod"/>
            </a:pPr>
            <a:r>
              <a:rPr lang="en"/>
              <a:t>Search for lightweight and compact batteries suitable for powering the controller.</a:t>
            </a:r>
            <a:endParaRPr/>
          </a:p>
          <a:p>
            <a:pPr indent="0" lvl="0" marL="457200" rtl="0" algn="l">
              <a:spcBef>
                <a:spcPts val="1200"/>
              </a:spcBef>
              <a:spcAft>
                <a:spcPts val="1200"/>
              </a:spcAft>
              <a:buNone/>
            </a:pPr>
            <a:r>
              <a:t/>
            </a:r>
            <a:endParaRPr/>
          </a:p>
        </p:txBody>
      </p:sp>
      <p:sp>
        <p:nvSpPr>
          <p:cNvPr id="320" name="Google Shape;320;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326" name="Google Shape;326;p3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327" name="Google Shape;327;p30"/>
          <p:cNvPicPr preferRelativeResize="0"/>
          <p:nvPr/>
        </p:nvPicPr>
        <p:blipFill>
          <a:blip r:embed="rId3">
            <a:alphaModFix/>
          </a:blip>
          <a:stretch>
            <a:fillRect/>
          </a:stretch>
        </p:blipFill>
        <p:spPr>
          <a:xfrm>
            <a:off x="0" y="0"/>
            <a:ext cx="9144000" cy="5143500"/>
          </a:xfrm>
          <a:prstGeom prst="rect">
            <a:avLst/>
          </a:prstGeom>
          <a:noFill/>
          <a:ln>
            <a:noFill/>
          </a:ln>
        </p:spPr>
      </p:pic>
      <p:sp>
        <p:nvSpPr>
          <p:cNvPr id="328" name="Google Shape;328;p30"/>
          <p:cNvSpPr txBox="1"/>
          <p:nvPr>
            <p:ph idx="4294967295" type="title"/>
          </p:nvPr>
        </p:nvSpPr>
        <p:spPr>
          <a:xfrm>
            <a:off x="582400" y="407725"/>
            <a:ext cx="7842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320"/>
              <a:t>Comparative analysis: IMU sensors</a:t>
            </a:r>
            <a:endParaRPr b="1" sz="2320"/>
          </a:p>
        </p:txBody>
      </p:sp>
      <p:sp>
        <p:nvSpPr>
          <p:cNvPr id="329" name="Google Shape;329;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30" name="Google Shape;330;p30"/>
          <p:cNvPicPr preferRelativeResize="0"/>
          <p:nvPr/>
        </p:nvPicPr>
        <p:blipFill>
          <a:blip r:embed="rId4">
            <a:alphaModFix/>
          </a:blip>
          <a:stretch>
            <a:fillRect/>
          </a:stretch>
        </p:blipFill>
        <p:spPr>
          <a:xfrm>
            <a:off x="184800" y="1063075"/>
            <a:ext cx="8789901" cy="33801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336" name="Google Shape;336;p3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337" name="Google Shape;337;p31"/>
          <p:cNvPicPr preferRelativeResize="0"/>
          <p:nvPr/>
        </p:nvPicPr>
        <p:blipFill>
          <a:blip r:embed="rId3">
            <a:alphaModFix/>
          </a:blip>
          <a:stretch>
            <a:fillRect/>
          </a:stretch>
        </p:blipFill>
        <p:spPr>
          <a:xfrm>
            <a:off x="0" y="0"/>
            <a:ext cx="9144000" cy="5143500"/>
          </a:xfrm>
          <a:prstGeom prst="rect">
            <a:avLst/>
          </a:prstGeom>
          <a:noFill/>
          <a:ln>
            <a:noFill/>
          </a:ln>
        </p:spPr>
      </p:pic>
      <p:sp>
        <p:nvSpPr>
          <p:cNvPr id="338" name="Google Shape;338;p31"/>
          <p:cNvSpPr txBox="1"/>
          <p:nvPr>
            <p:ph idx="4294967295" type="title"/>
          </p:nvPr>
        </p:nvSpPr>
        <p:spPr>
          <a:xfrm>
            <a:off x="582400" y="407725"/>
            <a:ext cx="7842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320"/>
              <a:t>Comparative analysis: Heart rate monitoring sensors</a:t>
            </a:r>
            <a:endParaRPr b="1" sz="2320"/>
          </a:p>
        </p:txBody>
      </p:sp>
      <p:sp>
        <p:nvSpPr>
          <p:cNvPr id="339" name="Google Shape;339;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40" name="Google Shape;340;p31"/>
          <p:cNvPicPr preferRelativeResize="0"/>
          <p:nvPr/>
        </p:nvPicPr>
        <p:blipFill>
          <a:blip r:embed="rId4">
            <a:alphaModFix/>
          </a:blip>
          <a:stretch>
            <a:fillRect/>
          </a:stretch>
        </p:blipFill>
        <p:spPr>
          <a:xfrm>
            <a:off x="163050" y="904215"/>
            <a:ext cx="8520598" cy="398611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346" name="Google Shape;346;p3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347" name="Google Shape;347;p32"/>
          <p:cNvPicPr preferRelativeResize="0"/>
          <p:nvPr/>
        </p:nvPicPr>
        <p:blipFill>
          <a:blip r:embed="rId3">
            <a:alphaModFix/>
          </a:blip>
          <a:stretch>
            <a:fillRect/>
          </a:stretch>
        </p:blipFill>
        <p:spPr>
          <a:xfrm>
            <a:off x="0" y="0"/>
            <a:ext cx="9144000" cy="5143500"/>
          </a:xfrm>
          <a:prstGeom prst="rect">
            <a:avLst/>
          </a:prstGeom>
          <a:noFill/>
          <a:ln>
            <a:noFill/>
          </a:ln>
        </p:spPr>
      </p:pic>
      <p:sp>
        <p:nvSpPr>
          <p:cNvPr id="348" name="Google Shape;348;p32"/>
          <p:cNvSpPr txBox="1"/>
          <p:nvPr>
            <p:ph idx="4294967295" type="title"/>
          </p:nvPr>
        </p:nvSpPr>
        <p:spPr>
          <a:xfrm>
            <a:off x="582400" y="407725"/>
            <a:ext cx="7842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320"/>
              <a:t>Comparative analysis: Dev Kits for Base Station</a:t>
            </a:r>
            <a:endParaRPr b="1" sz="2320"/>
          </a:p>
        </p:txBody>
      </p:sp>
      <p:sp>
        <p:nvSpPr>
          <p:cNvPr id="349" name="Google Shape;349;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50" name="Google Shape;350;p32"/>
          <p:cNvPicPr preferRelativeResize="0"/>
          <p:nvPr/>
        </p:nvPicPr>
        <p:blipFill>
          <a:blip r:embed="rId4">
            <a:alphaModFix/>
          </a:blip>
          <a:stretch>
            <a:fillRect/>
          </a:stretch>
        </p:blipFill>
        <p:spPr>
          <a:xfrm>
            <a:off x="601250" y="841004"/>
            <a:ext cx="7871201" cy="421582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356" name="Google Shape;356;p3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357" name="Google Shape;357;p33"/>
          <p:cNvPicPr preferRelativeResize="0"/>
          <p:nvPr/>
        </p:nvPicPr>
        <p:blipFill>
          <a:blip r:embed="rId3">
            <a:alphaModFix/>
          </a:blip>
          <a:stretch>
            <a:fillRect/>
          </a:stretch>
        </p:blipFill>
        <p:spPr>
          <a:xfrm>
            <a:off x="0" y="0"/>
            <a:ext cx="9144000" cy="5143500"/>
          </a:xfrm>
          <a:prstGeom prst="rect">
            <a:avLst/>
          </a:prstGeom>
          <a:noFill/>
          <a:ln>
            <a:noFill/>
          </a:ln>
        </p:spPr>
      </p:pic>
      <p:sp>
        <p:nvSpPr>
          <p:cNvPr id="358" name="Google Shape;358;p33"/>
          <p:cNvSpPr txBox="1"/>
          <p:nvPr>
            <p:ph idx="4294967295" type="title"/>
          </p:nvPr>
        </p:nvSpPr>
        <p:spPr>
          <a:xfrm>
            <a:off x="457200" y="685800"/>
            <a:ext cx="8522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Interface</a:t>
            </a:r>
            <a:r>
              <a:rPr b="1" lang="en"/>
              <a:t> SD card with ESP32</a:t>
            </a:r>
            <a:endParaRPr b="1"/>
          </a:p>
        </p:txBody>
      </p:sp>
      <p:sp>
        <p:nvSpPr>
          <p:cNvPr id="359" name="Google Shape;359;p33"/>
          <p:cNvSpPr txBox="1"/>
          <p:nvPr>
            <p:ph idx="4294967295" type="body"/>
          </p:nvPr>
        </p:nvSpPr>
        <p:spPr>
          <a:xfrm>
            <a:off x="457200" y="1371600"/>
            <a:ext cx="6555900" cy="3291600"/>
          </a:xfrm>
          <a:prstGeom prst="rect">
            <a:avLst/>
          </a:prstGeom>
        </p:spPr>
        <p:txBody>
          <a:bodyPr anchorCtr="0" anchor="t" bIns="91425" lIns="91425" spcFirstLastPara="1" rIns="91425" wrap="square" tIns="91425">
            <a:normAutofit fontScale="70000" lnSpcReduction="10000"/>
          </a:bodyPr>
          <a:lstStyle/>
          <a:p>
            <a:pPr indent="0" lvl="0" marL="0" rtl="0" algn="l">
              <a:lnSpc>
                <a:spcPct val="90000"/>
              </a:lnSpc>
              <a:spcBef>
                <a:spcPts val="1000"/>
              </a:spcBef>
              <a:spcAft>
                <a:spcPts val="0"/>
              </a:spcAft>
              <a:buNone/>
            </a:pPr>
            <a:r>
              <a:rPr b="1" lang="en" sz="1900"/>
              <a:t>Hardware Setup:</a:t>
            </a:r>
            <a:endParaRPr sz="1900">
              <a:solidFill>
                <a:schemeClr val="dk1"/>
              </a:solidFill>
            </a:endParaRPr>
          </a:p>
          <a:p>
            <a:pPr indent="457200" lvl="0" marL="0" rtl="0" algn="l">
              <a:lnSpc>
                <a:spcPct val="90000"/>
              </a:lnSpc>
              <a:spcBef>
                <a:spcPts val="500"/>
              </a:spcBef>
              <a:spcAft>
                <a:spcPts val="0"/>
              </a:spcAft>
              <a:buNone/>
            </a:pPr>
            <a:r>
              <a:rPr lang="en" sz="1850"/>
              <a:t>Connect the SD card module to ESP32 using SPI (Serial Peripheral Interface).</a:t>
            </a:r>
            <a:endParaRPr sz="1900">
              <a:solidFill>
                <a:schemeClr val="dk1"/>
              </a:solidFill>
            </a:endParaRPr>
          </a:p>
          <a:p>
            <a:pPr indent="0" lvl="0" marL="0" rtl="0" algn="l">
              <a:lnSpc>
                <a:spcPct val="90000"/>
              </a:lnSpc>
              <a:spcBef>
                <a:spcPts val="1000"/>
              </a:spcBef>
              <a:spcAft>
                <a:spcPts val="0"/>
              </a:spcAft>
              <a:buNone/>
            </a:pPr>
            <a:r>
              <a:rPr b="1" lang="en" sz="1900"/>
              <a:t>Current Work:</a:t>
            </a:r>
            <a:endParaRPr sz="2200">
              <a:solidFill>
                <a:schemeClr val="dk1"/>
              </a:solidFill>
            </a:endParaRPr>
          </a:p>
          <a:p>
            <a:pPr indent="0" lvl="0" marL="457200" marR="0" rtl="0" algn="l">
              <a:lnSpc>
                <a:spcPct val="90000"/>
              </a:lnSpc>
              <a:spcBef>
                <a:spcPts val="500"/>
              </a:spcBef>
              <a:spcAft>
                <a:spcPts val="0"/>
              </a:spcAft>
              <a:buNone/>
            </a:pPr>
            <a:r>
              <a:rPr lang="en" sz="1850"/>
              <a:t>Initialization and Mounting</a:t>
            </a:r>
            <a:endParaRPr sz="1850"/>
          </a:p>
          <a:p>
            <a:pPr indent="0" lvl="0" marL="457200" marR="0" rtl="0" algn="l">
              <a:lnSpc>
                <a:spcPct val="90000"/>
              </a:lnSpc>
              <a:spcBef>
                <a:spcPts val="500"/>
              </a:spcBef>
              <a:spcAft>
                <a:spcPts val="0"/>
              </a:spcAft>
              <a:buNone/>
            </a:pPr>
            <a:r>
              <a:rPr lang="en" sz="1850"/>
              <a:t>Code to initialize the SD card.</a:t>
            </a:r>
            <a:endParaRPr sz="1850"/>
          </a:p>
          <a:p>
            <a:pPr indent="0" lvl="0" marL="457200" marR="0" rtl="0" algn="l">
              <a:lnSpc>
                <a:spcPct val="90000"/>
              </a:lnSpc>
              <a:spcBef>
                <a:spcPts val="500"/>
              </a:spcBef>
              <a:spcAft>
                <a:spcPts val="0"/>
              </a:spcAft>
              <a:buNone/>
            </a:pPr>
            <a:r>
              <a:rPr lang="en" sz="1850"/>
              <a:t>Manage SD card initialization errors (e.g., card not detected, format issues).</a:t>
            </a:r>
            <a:endParaRPr sz="1900">
              <a:solidFill>
                <a:schemeClr val="dk1"/>
              </a:solidFill>
            </a:endParaRPr>
          </a:p>
          <a:p>
            <a:pPr indent="0" lvl="0" marL="0" rtl="0" algn="l">
              <a:lnSpc>
                <a:spcPct val="90000"/>
              </a:lnSpc>
              <a:spcBef>
                <a:spcPts val="1000"/>
              </a:spcBef>
              <a:spcAft>
                <a:spcPts val="0"/>
              </a:spcAft>
              <a:buNone/>
            </a:pPr>
            <a:r>
              <a:rPr b="1" lang="en" sz="1900"/>
              <a:t>Next Tasks:</a:t>
            </a:r>
            <a:endParaRPr sz="2200">
              <a:solidFill>
                <a:schemeClr val="dk1"/>
              </a:solidFill>
            </a:endParaRPr>
          </a:p>
          <a:p>
            <a:pPr indent="0" lvl="0" marL="457200" rtl="0" algn="l">
              <a:lnSpc>
                <a:spcPct val="90000"/>
              </a:lnSpc>
              <a:spcBef>
                <a:spcPts val="500"/>
              </a:spcBef>
              <a:spcAft>
                <a:spcPts val="0"/>
              </a:spcAft>
              <a:buNone/>
            </a:pPr>
            <a:r>
              <a:rPr lang="en" sz="1850"/>
              <a:t>Implement code for basic file operations: read, write, delete, open, and close files.</a:t>
            </a:r>
            <a:endParaRPr sz="1850"/>
          </a:p>
          <a:p>
            <a:pPr indent="0" lvl="0" marL="457200" rtl="0" algn="l">
              <a:lnSpc>
                <a:spcPct val="90000"/>
              </a:lnSpc>
              <a:spcBef>
                <a:spcPts val="500"/>
              </a:spcBef>
              <a:spcAft>
                <a:spcPts val="0"/>
              </a:spcAft>
              <a:buNone/>
            </a:pPr>
            <a:r>
              <a:rPr lang="en" sz="1850"/>
              <a:t>Test for reliability and error handling during file operations.</a:t>
            </a:r>
            <a:endParaRPr sz="1850"/>
          </a:p>
          <a:p>
            <a:pPr indent="0" lvl="0" marL="457200" rtl="0" algn="l">
              <a:lnSpc>
                <a:spcPct val="90000"/>
              </a:lnSpc>
              <a:spcBef>
                <a:spcPts val="500"/>
              </a:spcBef>
              <a:spcAft>
                <a:spcPts val="0"/>
              </a:spcAft>
              <a:buNone/>
            </a:pPr>
            <a:r>
              <a:rPr lang="en" sz="1850"/>
              <a:t>Analyze the  storage capacity.</a:t>
            </a:r>
            <a:endParaRPr sz="1850"/>
          </a:p>
          <a:p>
            <a:pPr indent="0" lvl="0" marL="457200" rtl="0" algn="l">
              <a:lnSpc>
                <a:spcPct val="90000"/>
              </a:lnSpc>
              <a:spcBef>
                <a:spcPts val="500"/>
              </a:spcBef>
              <a:spcAft>
                <a:spcPts val="0"/>
              </a:spcAft>
              <a:buNone/>
            </a:pPr>
            <a:r>
              <a:rPr lang="en" sz="1850"/>
              <a:t>Interface between ESP32 and MAx controller.</a:t>
            </a:r>
            <a:endParaRPr sz="1850">
              <a:solidFill>
                <a:schemeClr val="dk1"/>
              </a:solidFill>
            </a:endParaRPr>
          </a:p>
          <a:p>
            <a:pPr indent="0" lvl="0" marL="0" rtl="0" algn="l">
              <a:spcBef>
                <a:spcPts val="0"/>
              </a:spcBef>
              <a:spcAft>
                <a:spcPts val="1200"/>
              </a:spcAft>
              <a:buNone/>
            </a:pPr>
            <a:r>
              <a:t/>
            </a:r>
            <a:endParaRPr/>
          </a:p>
        </p:txBody>
      </p:sp>
      <p:sp>
        <p:nvSpPr>
          <p:cNvPr id="360" name="Google Shape;360;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61" name="Google Shape;361;p33"/>
          <p:cNvPicPr preferRelativeResize="0"/>
          <p:nvPr/>
        </p:nvPicPr>
        <p:blipFill>
          <a:blip r:embed="rId4">
            <a:alphaModFix/>
          </a:blip>
          <a:stretch>
            <a:fillRect/>
          </a:stretch>
        </p:blipFill>
        <p:spPr>
          <a:xfrm>
            <a:off x="6957425" y="1670277"/>
            <a:ext cx="2063725" cy="1163850"/>
          </a:xfrm>
          <a:prstGeom prst="rect">
            <a:avLst/>
          </a:prstGeom>
          <a:noFill/>
          <a:ln>
            <a:noFill/>
          </a:ln>
        </p:spPr>
      </p:pic>
      <p:pic>
        <p:nvPicPr>
          <p:cNvPr id="362" name="Google Shape;362;p33"/>
          <p:cNvPicPr preferRelativeResize="0"/>
          <p:nvPr/>
        </p:nvPicPr>
        <p:blipFill>
          <a:blip r:embed="rId5">
            <a:alphaModFix/>
          </a:blip>
          <a:stretch>
            <a:fillRect/>
          </a:stretch>
        </p:blipFill>
        <p:spPr>
          <a:xfrm>
            <a:off x="7013100" y="2964850"/>
            <a:ext cx="1669584" cy="16983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Power Management Circuitry </a:t>
            </a:r>
            <a:endParaRPr b="1"/>
          </a:p>
        </p:txBody>
      </p:sp>
      <p:sp>
        <p:nvSpPr>
          <p:cNvPr id="368" name="Google Shape;368;p34"/>
          <p:cNvSpPr txBox="1"/>
          <p:nvPr>
            <p:ph idx="1" type="body"/>
          </p:nvPr>
        </p:nvSpPr>
        <p:spPr>
          <a:xfrm>
            <a:off x="311700" y="1152325"/>
            <a:ext cx="4260300" cy="35109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a:t>MCU supply required: 100mA at 3 - 3.6V.</a:t>
            </a:r>
            <a:endParaRPr/>
          </a:p>
          <a:p>
            <a:pPr indent="-317500" lvl="0" marL="457200" rtl="0" algn="l">
              <a:spcBef>
                <a:spcPts val="0"/>
              </a:spcBef>
              <a:spcAft>
                <a:spcPts val="0"/>
              </a:spcAft>
              <a:buSzPts val="1400"/>
              <a:buChar char="●"/>
            </a:pPr>
            <a:r>
              <a:rPr lang="en"/>
              <a:t>Power requirement about 0.3 - 0.369W.</a:t>
            </a:r>
            <a:endParaRPr/>
          </a:p>
          <a:p>
            <a:pPr indent="-317500" lvl="0" marL="457200" rtl="0" algn="l">
              <a:spcBef>
                <a:spcPts val="0"/>
              </a:spcBef>
              <a:spcAft>
                <a:spcPts val="0"/>
              </a:spcAft>
              <a:buSzPts val="1400"/>
              <a:buChar char="●"/>
            </a:pPr>
            <a:r>
              <a:rPr lang="en"/>
              <a:t>Current battery selected: LiPo 503035.</a:t>
            </a:r>
            <a:endParaRPr/>
          </a:p>
          <a:p>
            <a:pPr indent="-317500" lvl="0" marL="457200" rtl="0" algn="l">
              <a:spcBef>
                <a:spcPts val="0"/>
              </a:spcBef>
              <a:spcAft>
                <a:spcPts val="0"/>
              </a:spcAft>
              <a:buSzPts val="1400"/>
              <a:buChar char="●"/>
            </a:pPr>
            <a:r>
              <a:rPr lang="en"/>
              <a:t>Planning to utilise </a:t>
            </a:r>
            <a:r>
              <a:rPr lang="en"/>
              <a:t>TP4056</a:t>
            </a:r>
            <a:r>
              <a:rPr lang="en"/>
              <a:t> based board to implement battery management.</a:t>
            </a:r>
            <a:endParaRPr/>
          </a:p>
          <a:p>
            <a:pPr indent="0" lvl="0" marL="0" rtl="0" algn="l">
              <a:spcBef>
                <a:spcPts val="1200"/>
              </a:spcBef>
              <a:spcAft>
                <a:spcPts val="0"/>
              </a:spcAft>
              <a:buNone/>
            </a:pPr>
            <a:r>
              <a:rPr lang="en"/>
              <a:t>Future Tasks:</a:t>
            </a:r>
            <a:endParaRPr/>
          </a:p>
          <a:p>
            <a:pPr indent="-317500" lvl="0" marL="457200" rtl="0" algn="l">
              <a:spcBef>
                <a:spcPts val="1200"/>
              </a:spcBef>
              <a:spcAft>
                <a:spcPts val="0"/>
              </a:spcAft>
              <a:buSzPts val="1400"/>
              <a:buChar char="●"/>
            </a:pPr>
            <a:r>
              <a:rPr lang="en"/>
              <a:t>Attempt to fully utilize battery capacity.</a:t>
            </a:r>
            <a:endParaRPr/>
          </a:p>
          <a:p>
            <a:pPr indent="-317500" lvl="0" marL="457200" rtl="0" algn="l">
              <a:spcBef>
                <a:spcPts val="0"/>
              </a:spcBef>
              <a:spcAft>
                <a:spcPts val="0"/>
              </a:spcAft>
              <a:buSzPts val="1400"/>
              <a:buChar char="●"/>
            </a:pPr>
            <a:r>
              <a:rPr lang="en"/>
              <a:t>Adjusting power supply to </a:t>
            </a:r>
            <a:r>
              <a:rPr lang="en"/>
              <a:t>accommodate</a:t>
            </a:r>
            <a:r>
              <a:rPr lang="en"/>
              <a:t> new </a:t>
            </a:r>
            <a:r>
              <a:rPr lang="en"/>
              <a:t>components</a:t>
            </a:r>
            <a:r>
              <a:rPr lang="en"/>
              <a:t> and changes in MCU use. </a:t>
            </a:r>
            <a:endParaRPr/>
          </a:p>
          <a:p>
            <a:pPr indent="-317500" lvl="0" marL="457200" rtl="0" algn="l">
              <a:spcBef>
                <a:spcPts val="0"/>
              </a:spcBef>
              <a:spcAft>
                <a:spcPts val="0"/>
              </a:spcAft>
              <a:buSzPts val="1400"/>
              <a:buChar char="●"/>
            </a:pPr>
            <a:r>
              <a:rPr lang="en"/>
              <a:t>Implementing </a:t>
            </a:r>
            <a:r>
              <a:rPr lang="en"/>
              <a:t>safety</a:t>
            </a:r>
            <a:r>
              <a:rPr lang="en"/>
              <a:t> factor. </a:t>
            </a:r>
            <a:endParaRPr/>
          </a:p>
        </p:txBody>
      </p:sp>
      <p:sp>
        <p:nvSpPr>
          <p:cNvPr id="369" name="Google Shape;369;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70" name="Google Shape;370;p34"/>
          <p:cNvSpPr/>
          <p:nvPr/>
        </p:nvSpPr>
        <p:spPr>
          <a:xfrm>
            <a:off x="7713050" y="1229375"/>
            <a:ext cx="1039200" cy="625500"/>
          </a:xfrm>
          <a:prstGeom prst="roundRect">
            <a:avLst>
              <a:gd fmla="val 16667" name="adj"/>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MCU</a:t>
            </a:r>
            <a:endParaRPr sz="1200"/>
          </a:p>
        </p:txBody>
      </p:sp>
      <p:sp>
        <p:nvSpPr>
          <p:cNvPr id="371" name="Google Shape;371;p34"/>
          <p:cNvSpPr/>
          <p:nvPr/>
        </p:nvSpPr>
        <p:spPr>
          <a:xfrm>
            <a:off x="7713050" y="2259000"/>
            <a:ext cx="1039200" cy="625500"/>
          </a:xfrm>
          <a:prstGeom prst="roundRect">
            <a:avLst>
              <a:gd fmla="val 16667" name="adj"/>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LiPo Battery </a:t>
            </a:r>
            <a:endParaRPr sz="1200"/>
          </a:p>
        </p:txBody>
      </p:sp>
      <p:sp>
        <p:nvSpPr>
          <p:cNvPr id="372" name="Google Shape;372;p34"/>
          <p:cNvSpPr/>
          <p:nvPr/>
        </p:nvSpPr>
        <p:spPr>
          <a:xfrm>
            <a:off x="7713050" y="3333300"/>
            <a:ext cx="1039200" cy="625500"/>
          </a:xfrm>
          <a:prstGeom prst="roundRect">
            <a:avLst>
              <a:gd fmla="val 16667" name="adj"/>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Charging Circuit </a:t>
            </a:r>
            <a:endParaRPr sz="1200"/>
          </a:p>
        </p:txBody>
      </p:sp>
      <p:cxnSp>
        <p:nvCxnSpPr>
          <p:cNvPr id="373" name="Google Shape;373;p34"/>
          <p:cNvCxnSpPr>
            <a:stCxn id="372" idx="0"/>
            <a:endCxn id="371" idx="2"/>
          </p:cNvCxnSpPr>
          <p:nvPr/>
        </p:nvCxnSpPr>
        <p:spPr>
          <a:xfrm rot="10800000">
            <a:off x="8232650" y="2884500"/>
            <a:ext cx="0" cy="448800"/>
          </a:xfrm>
          <a:prstGeom prst="straightConnector1">
            <a:avLst/>
          </a:prstGeom>
          <a:noFill/>
          <a:ln cap="flat" cmpd="sng" w="9525">
            <a:solidFill>
              <a:schemeClr val="accent1"/>
            </a:solidFill>
            <a:prstDash val="solid"/>
            <a:round/>
            <a:headEnd len="med" w="med" type="none"/>
            <a:tailEnd len="med" w="med" type="triangle"/>
          </a:ln>
        </p:spPr>
      </p:cxnSp>
      <p:cxnSp>
        <p:nvCxnSpPr>
          <p:cNvPr id="374" name="Google Shape;374;p34"/>
          <p:cNvCxnSpPr>
            <a:stCxn id="371" idx="0"/>
            <a:endCxn id="370" idx="2"/>
          </p:cNvCxnSpPr>
          <p:nvPr/>
        </p:nvCxnSpPr>
        <p:spPr>
          <a:xfrm rot="10800000">
            <a:off x="8232650" y="1854900"/>
            <a:ext cx="0" cy="404100"/>
          </a:xfrm>
          <a:prstGeom prst="straightConnector1">
            <a:avLst/>
          </a:prstGeom>
          <a:noFill/>
          <a:ln cap="flat" cmpd="sng" w="9525">
            <a:solidFill>
              <a:schemeClr val="accent1"/>
            </a:solidFill>
            <a:prstDash val="solid"/>
            <a:round/>
            <a:headEnd len="med" w="med" type="none"/>
            <a:tailEnd len="med" w="med" type="triangle"/>
          </a:ln>
        </p:spPr>
      </p:cxnSp>
      <p:sp>
        <p:nvSpPr>
          <p:cNvPr id="375" name="Google Shape;375;p34"/>
          <p:cNvSpPr txBox="1"/>
          <p:nvPr/>
        </p:nvSpPr>
        <p:spPr>
          <a:xfrm>
            <a:off x="7777100" y="4303025"/>
            <a:ext cx="911100" cy="5727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rPr>
              <a:t>3-5V  </a:t>
            </a:r>
            <a:r>
              <a:rPr lang="en" sz="1300">
                <a:solidFill>
                  <a:schemeClr val="dk2"/>
                </a:solidFill>
              </a:rPr>
              <a:t>Supply</a:t>
            </a:r>
            <a:endParaRPr sz="1300">
              <a:solidFill>
                <a:schemeClr val="dk2"/>
              </a:solidFill>
            </a:endParaRPr>
          </a:p>
        </p:txBody>
      </p:sp>
      <p:cxnSp>
        <p:nvCxnSpPr>
          <p:cNvPr id="376" name="Google Shape;376;p34"/>
          <p:cNvCxnSpPr>
            <a:stCxn id="375" idx="0"/>
            <a:endCxn id="372" idx="2"/>
          </p:cNvCxnSpPr>
          <p:nvPr/>
        </p:nvCxnSpPr>
        <p:spPr>
          <a:xfrm rot="10800000">
            <a:off x="8232650" y="3958925"/>
            <a:ext cx="0" cy="344100"/>
          </a:xfrm>
          <a:prstGeom prst="straightConnector1">
            <a:avLst/>
          </a:prstGeom>
          <a:noFill/>
          <a:ln cap="flat" cmpd="sng" w="9525">
            <a:solidFill>
              <a:schemeClr val="accent1"/>
            </a:solidFill>
            <a:prstDash val="solid"/>
            <a:round/>
            <a:headEnd len="med" w="med" type="none"/>
            <a:tailEnd len="med" w="med" type="triangle"/>
          </a:ln>
        </p:spPr>
      </p:cxnSp>
      <p:pic>
        <p:nvPicPr>
          <p:cNvPr id="377" name="Google Shape;377;p34"/>
          <p:cNvPicPr preferRelativeResize="0"/>
          <p:nvPr/>
        </p:nvPicPr>
        <p:blipFill>
          <a:blip r:embed="rId3">
            <a:alphaModFix/>
          </a:blip>
          <a:stretch>
            <a:fillRect/>
          </a:stretch>
        </p:blipFill>
        <p:spPr>
          <a:xfrm>
            <a:off x="4914900" y="3132200"/>
            <a:ext cx="2084575" cy="2011300"/>
          </a:xfrm>
          <a:prstGeom prst="rect">
            <a:avLst/>
          </a:prstGeom>
          <a:noFill/>
          <a:ln>
            <a:noFill/>
          </a:ln>
        </p:spPr>
      </p:pic>
      <p:pic>
        <p:nvPicPr>
          <p:cNvPr id="378" name="Google Shape;378;p34"/>
          <p:cNvPicPr preferRelativeResize="0"/>
          <p:nvPr/>
        </p:nvPicPr>
        <p:blipFill>
          <a:blip r:embed="rId4">
            <a:alphaModFix/>
          </a:blip>
          <a:stretch>
            <a:fillRect/>
          </a:stretch>
        </p:blipFill>
        <p:spPr>
          <a:xfrm>
            <a:off x="4721475" y="1388700"/>
            <a:ext cx="1809675" cy="18096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84" name="Google Shape;384;p35"/>
          <p:cNvSpPr txBox="1"/>
          <p:nvPr/>
        </p:nvSpPr>
        <p:spPr>
          <a:xfrm>
            <a:off x="0" y="0"/>
            <a:ext cx="9144000" cy="340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500">
                <a:solidFill>
                  <a:schemeClr val="dk2"/>
                </a:solidFill>
              </a:rPr>
              <a:t>Amazon Web Services!</a:t>
            </a:r>
            <a:endParaRPr b="1" sz="2500">
              <a:solidFill>
                <a:schemeClr val="dk2"/>
              </a:solidFill>
            </a:endParaRPr>
          </a:p>
        </p:txBody>
      </p:sp>
      <p:pic>
        <p:nvPicPr>
          <p:cNvPr id="385" name="Google Shape;385;p35"/>
          <p:cNvPicPr preferRelativeResize="0"/>
          <p:nvPr/>
        </p:nvPicPr>
        <p:blipFill>
          <a:blip r:embed="rId3">
            <a:alphaModFix/>
          </a:blip>
          <a:stretch>
            <a:fillRect/>
          </a:stretch>
        </p:blipFill>
        <p:spPr>
          <a:xfrm>
            <a:off x="838500" y="558625"/>
            <a:ext cx="7467012" cy="4498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Android Application Interface</a:t>
            </a:r>
            <a:endParaRPr/>
          </a:p>
        </p:txBody>
      </p:sp>
      <p:sp>
        <p:nvSpPr>
          <p:cNvPr id="391" name="Google Shape;391;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92" name="Google Shape;392;p36"/>
          <p:cNvPicPr preferRelativeResize="0"/>
          <p:nvPr/>
        </p:nvPicPr>
        <p:blipFill>
          <a:blip r:embed="rId3">
            <a:alphaModFix/>
          </a:blip>
          <a:stretch>
            <a:fillRect/>
          </a:stretch>
        </p:blipFill>
        <p:spPr>
          <a:xfrm>
            <a:off x="6761548" y="456225"/>
            <a:ext cx="2070750" cy="4231050"/>
          </a:xfrm>
          <a:prstGeom prst="rect">
            <a:avLst/>
          </a:prstGeom>
          <a:noFill/>
          <a:ln>
            <a:noFill/>
          </a:ln>
        </p:spPr>
      </p:pic>
      <p:pic>
        <p:nvPicPr>
          <p:cNvPr id="393" name="Google Shape;393;p36"/>
          <p:cNvPicPr preferRelativeResize="0"/>
          <p:nvPr/>
        </p:nvPicPr>
        <p:blipFill>
          <a:blip r:embed="rId4">
            <a:alphaModFix/>
          </a:blip>
          <a:stretch>
            <a:fillRect/>
          </a:stretch>
        </p:blipFill>
        <p:spPr>
          <a:xfrm>
            <a:off x="141575" y="866300"/>
            <a:ext cx="6354446" cy="382097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